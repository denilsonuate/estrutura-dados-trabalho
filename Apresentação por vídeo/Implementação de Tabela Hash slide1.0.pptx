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62" r:id="rId9"/>
    <p:sldId id="274" r:id="rId10"/>
    <p:sldId id="271" r:id="rId11"/>
    <p:sldId id="263" r:id="rId12"/>
    <p:sldId id="272" r:id="rId13"/>
    <p:sldId id="264" r:id="rId14"/>
    <p:sldId id="265" r:id="rId15"/>
    <p:sldId id="266" r:id="rId16"/>
    <p:sldId id="267" r:id="rId17"/>
    <p:sldId id="268" r:id="rId18"/>
    <p:sldId id="269"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EDD31-D937-7B75-24A3-09A100DC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535C78-6E6E-6DCB-F245-B3B172FBD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DE3F11-65B3-0A44-7CD2-8C8C23EA542A}"/>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5" name="Footer Placeholder 4">
            <a:extLst>
              <a:ext uri="{FF2B5EF4-FFF2-40B4-BE49-F238E27FC236}">
                <a16:creationId xmlns:a16="http://schemas.microsoft.com/office/drawing/2014/main" id="{66654924-8E99-7BD4-E4F2-304351EF4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1309E2-9A05-73CC-090C-385A1F9D8B9B}"/>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2365968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4A8CA-551F-A72E-3CEE-B8FF0044DE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C4EE81-3F67-B76E-FA42-CC475E309A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39B1C-E90F-EABA-115E-C31C0E6F3198}"/>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5" name="Footer Placeholder 4">
            <a:extLst>
              <a:ext uri="{FF2B5EF4-FFF2-40B4-BE49-F238E27FC236}">
                <a16:creationId xmlns:a16="http://schemas.microsoft.com/office/drawing/2014/main" id="{6E3A4742-DECC-84BA-0B04-64A608B4E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D0719-D96F-37CF-8A28-B4B2E7B5E607}"/>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3011040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72141-55B1-3145-581A-D146D42CE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307B5A-6C0F-A7C2-68FB-3F9D00B65E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A4FF3D-6AE3-59CC-BA03-58F1F3651509}"/>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5" name="Footer Placeholder 4">
            <a:extLst>
              <a:ext uri="{FF2B5EF4-FFF2-40B4-BE49-F238E27FC236}">
                <a16:creationId xmlns:a16="http://schemas.microsoft.com/office/drawing/2014/main" id="{06092A10-99B6-DE85-3926-9F16BE225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434B04-FE46-5FF4-B591-D113448F1428}"/>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23157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0683-50BD-FED8-D6CA-2590AD94B8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51048C-64D1-BE9E-F870-B475B5C6ED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C15EA5-25B6-4010-1DDF-DE9E3F8E2B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FB12F5-2530-0E83-C36A-5A1B5674B78A}"/>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6" name="Footer Placeholder 5">
            <a:extLst>
              <a:ext uri="{FF2B5EF4-FFF2-40B4-BE49-F238E27FC236}">
                <a16:creationId xmlns:a16="http://schemas.microsoft.com/office/drawing/2014/main" id="{9E8B9B82-E713-2802-9FF6-048378D157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FB531-8807-DFA3-5CE7-0CD27CAD2FEE}"/>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2253646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79AC8-E24E-EC43-A3AA-4103CFB816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069B65-C2C9-B230-BD5F-E9791148E9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50764F-F808-16EF-1FD8-349D9E4FA1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6C12F0-922D-28D8-5346-DEC80602A3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98AB6C-1363-7F6D-DF1C-565B687652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68F32-8C1A-A722-8A6D-AE93BFB5AD8A}"/>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8" name="Footer Placeholder 7">
            <a:extLst>
              <a:ext uri="{FF2B5EF4-FFF2-40B4-BE49-F238E27FC236}">
                <a16:creationId xmlns:a16="http://schemas.microsoft.com/office/drawing/2014/main" id="{3E596AF2-9191-D442-1F09-8CF47FDC2B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DDB2E-129B-8AC6-BF9D-48ABE2B3EF39}"/>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1668930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9B08-2D29-9CAD-F180-4246E7DF83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65CE66-A8FF-DA7A-9C0F-D31B0364FA68}"/>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4" name="Footer Placeholder 3">
            <a:extLst>
              <a:ext uri="{FF2B5EF4-FFF2-40B4-BE49-F238E27FC236}">
                <a16:creationId xmlns:a16="http://schemas.microsoft.com/office/drawing/2014/main" id="{4B32B71E-8412-BFDB-BB7B-8163FA2C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683BE-3567-D059-CA31-9D751A7B3237}"/>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3275896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6CA9D8-E133-B00B-C6BB-93D832E1E7F6}"/>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3" name="Footer Placeholder 2">
            <a:extLst>
              <a:ext uri="{FF2B5EF4-FFF2-40B4-BE49-F238E27FC236}">
                <a16:creationId xmlns:a16="http://schemas.microsoft.com/office/drawing/2014/main" id="{02D0A26E-D359-2FC5-389F-72F76A57F4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D5A264-EDE5-1A7A-3CA2-782D47C10033}"/>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33730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662EA-6697-790D-3C50-FA3C910ED4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70A4BA-C447-3419-1FC8-928DE8CA5A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2B8966-F84D-A9E1-529A-B473FEC29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2E9D2B-9EF4-4B65-07D4-A092D5E295DD}"/>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6" name="Footer Placeholder 5">
            <a:extLst>
              <a:ext uri="{FF2B5EF4-FFF2-40B4-BE49-F238E27FC236}">
                <a16:creationId xmlns:a16="http://schemas.microsoft.com/office/drawing/2014/main" id="{2112F2E6-2AB5-7DA2-67C8-65BAFF394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4FE18F-91F4-B725-5554-C3D88D9F3822}"/>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1173769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28C8-CD22-D658-BC33-CBDD839F7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8B468C-F0AA-F138-EF1B-7C2316061F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5B6EE8-2E65-46BB-49EC-9438C3E5AF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1C984-7527-51F4-937F-E9EE465C8A56}"/>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6" name="Footer Placeholder 5">
            <a:extLst>
              <a:ext uri="{FF2B5EF4-FFF2-40B4-BE49-F238E27FC236}">
                <a16:creationId xmlns:a16="http://schemas.microsoft.com/office/drawing/2014/main" id="{726596AB-AFEE-9911-3C6E-98CA5AB39A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3277E-0CF5-8709-E283-87677EFB77D5}"/>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251922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57D38-716C-0D85-A173-880CE510B0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68E52F-85BE-7C82-06D7-349DAB2877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3EDBF7-6756-0FB1-CF9F-BCCBE99D143E}"/>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5" name="Footer Placeholder 4">
            <a:extLst>
              <a:ext uri="{FF2B5EF4-FFF2-40B4-BE49-F238E27FC236}">
                <a16:creationId xmlns:a16="http://schemas.microsoft.com/office/drawing/2014/main" id="{C243335C-2722-1A75-58FD-5946A052BC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75FEC-FD08-3B62-84EC-90C271391245}"/>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406151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91059-3257-ED37-BC23-ED64873A5A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DED632-AC46-D9F4-D764-822B04200B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DED65A-1FDE-478F-AF31-999827284974}"/>
              </a:ext>
            </a:extLst>
          </p:cNvPr>
          <p:cNvSpPr>
            <a:spLocks noGrp="1"/>
          </p:cNvSpPr>
          <p:nvPr>
            <p:ph type="dt" sz="half" idx="10"/>
          </p:nvPr>
        </p:nvSpPr>
        <p:spPr/>
        <p:txBody>
          <a:bodyPr/>
          <a:lstStyle/>
          <a:p>
            <a:fld id="{42535DCB-6801-4509-B3A8-F3625820B073}" type="datetimeFigureOut">
              <a:rPr lang="en-US" smtClean="0"/>
              <a:t>3/31/2026</a:t>
            </a:fld>
            <a:endParaRPr lang="en-US"/>
          </a:p>
        </p:txBody>
      </p:sp>
      <p:sp>
        <p:nvSpPr>
          <p:cNvPr id="5" name="Footer Placeholder 4">
            <a:extLst>
              <a:ext uri="{FF2B5EF4-FFF2-40B4-BE49-F238E27FC236}">
                <a16:creationId xmlns:a16="http://schemas.microsoft.com/office/drawing/2014/main" id="{CF4B99EC-EA05-FAA1-90CC-7AD5CAB85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479829-7222-2A2D-96B9-3152B15892EA}"/>
              </a:ext>
            </a:extLst>
          </p:cNvPr>
          <p:cNvSpPr>
            <a:spLocks noGrp="1"/>
          </p:cNvSpPr>
          <p:nvPr>
            <p:ph type="sldNum" sz="quarter" idx="12"/>
          </p:nvPr>
        </p:nvSpPr>
        <p:spPr/>
        <p:txBody>
          <a:bodyPr/>
          <a:lstStyle/>
          <a:p>
            <a:fld id="{CD6FBA28-EABB-41FC-9E6E-C2AD2FF2DD59}" type="slidenum">
              <a:rPr lang="en-US" smtClean="0"/>
              <a:t>‹#›</a:t>
            </a:fld>
            <a:endParaRPr lang="en-US"/>
          </a:p>
        </p:txBody>
      </p:sp>
    </p:spTree>
    <p:extLst>
      <p:ext uri="{BB962C8B-B14F-4D97-AF65-F5344CB8AC3E}">
        <p14:creationId xmlns:p14="http://schemas.microsoft.com/office/powerpoint/2010/main" val="2070862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E2DFF-9EAB-BF69-6E49-275D184310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A9FBEA-61F6-5F12-CB7F-0CE372F9B0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7FBE5-6317-CB94-EFFC-5267667C71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535DCB-6801-4509-B3A8-F3625820B073}" type="datetimeFigureOut">
              <a:rPr lang="en-US" smtClean="0"/>
              <a:t>3/31/2026</a:t>
            </a:fld>
            <a:endParaRPr lang="en-US"/>
          </a:p>
        </p:txBody>
      </p:sp>
      <p:sp>
        <p:nvSpPr>
          <p:cNvPr id="5" name="Footer Placeholder 4">
            <a:extLst>
              <a:ext uri="{FF2B5EF4-FFF2-40B4-BE49-F238E27FC236}">
                <a16:creationId xmlns:a16="http://schemas.microsoft.com/office/drawing/2014/main" id="{5687B5F6-8E50-10C5-FC29-9945E30C0B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518477-B9F9-74AF-B96F-72CF4BC73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6FBA28-EABB-41FC-9E6E-C2AD2FF2DD59}" type="slidenum">
              <a:rPr lang="en-US" smtClean="0"/>
              <a:t>‹#›</a:t>
            </a:fld>
            <a:endParaRPr lang="en-US"/>
          </a:p>
        </p:txBody>
      </p:sp>
    </p:spTree>
    <p:extLst>
      <p:ext uri="{BB962C8B-B14F-4D97-AF65-F5344CB8AC3E}">
        <p14:creationId xmlns:p14="http://schemas.microsoft.com/office/powerpoint/2010/main" val="4113226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2F024-8B08-F5AA-0C7F-44063289F050}"/>
              </a:ext>
            </a:extLst>
          </p:cNvPr>
          <p:cNvSpPr>
            <a:spLocks noGrp="1"/>
          </p:cNvSpPr>
          <p:nvPr>
            <p:ph type="ctrTitle"/>
          </p:nvPr>
        </p:nvSpPr>
        <p:spPr>
          <a:xfrm>
            <a:off x="1524000" y="1122363"/>
            <a:ext cx="9144000" cy="1655762"/>
          </a:xfrm>
        </p:spPr>
        <p:txBody>
          <a:bodyPr>
            <a:normAutofit/>
          </a:bodyPr>
          <a:lstStyle/>
          <a:p>
            <a:r>
              <a:rPr lang="en-US" sz="4800" b="0" i="0" dirty="0" err="1">
                <a:solidFill>
                  <a:srgbClr val="1F2328"/>
                </a:solidFill>
                <a:effectLst/>
                <a:latin typeface="Mona Sans VF"/>
              </a:rPr>
              <a:t>Implementação</a:t>
            </a:r>
            <a:r>
              <a:rPr lang="en-US" sz="4800" b="0" i="0" dirty="0">
                <a:solidFill>
                  <a:srgbClr val="1F2328"/>
                </a:solidFill>
                <a:effectLst/>
                <a:latin typeface="Mona Sans VF"/>
              </a:rPr>
              <a:t> de </a:t>
            </a:r>
            <a:r>
              <a:rPr lang="en-US" sz="4800" b="0" i="0" dirty="0" err="1">
                <a:solidFill>
                  <a:srgbClr val="1F2328"/>
                </a:solidFill>
                <a:effectLst/>
                <a:latin typeface="Mona Sans VF"/>
              </a:rPr>
              <a:t>Tabela</a:t>
            </a:r>
            <a:r>
              <a:rPr lang="en-US" sz="4800" b="0" i="0" dirty="0">
                <a:solidFill>
                  <a:srgbClr val="1F2328"/>
                </a:solidFill>
                <a:effectLst/>
                <a:latin typeface="Mona Sans VF"/>
              </a:rPr>
              <a:t> Hash</a:t>
            </a:r>
            <a:endParaRPr lang="en-US" sz="4800" dirty="0"/>
          </a:p>
        </p:txBody>
      </p:sp>
      <p:sp>
        <p:nvSpPr>
          <p:cNvPr id="3" name="Subtitle 2">
            <a:extLst>
              <a:ext uri="{FF2B5EF4-FFF2-40B4-BE49-F238E27FC236}">
                <a16:creationId xmlns:a16="http://schemas.microsoft.com/office/drawing/2014/main" id="{1336C0E5-129B-3BCA-CC3E-4CC637F0118E}"/>
              </a:ext>
            </a:extLst>
          </p:cNvPr>
          <p:cNvSpPr>
            <a:spLocks noGrp="1"/>
          </p:cNvSpPr>
          <p:nvPr>
            <p:ph type="subTitle" idx="1"/>
          </p:nvPr>
        </p:nvSpPr>
        <p:spPr/>
        <p:txBody>
          <a:bodyPr>
            <a:normAutofit lnSpcReduction="10000"/>
          </a:bodyPr>
          <a:lstStyle/>
          <a:p>
            <a:pPr algn="l"/>
            <a:r>
              <a:rPr lang="en-US" b="1" i="0" dirty="0">
                <a:solidFill>
                  <a:srgbClr val="1F2328"/>
                </a:solidFill>
                <a:effectLst/>
                <a:latin typeface="Mona Sans VF"/>
              </a:rPr>
              <a:t>Grupo</a:t>
            </a:r>
          </a:p>
          <a:p>
            <a:pPr algn="l">
              <a:buFont typeface="Arial" panose="020B0604020202020204" pitchFamily="34" charset="0"/>
              <a:buChar char="•"/>
            </a:pPr>
            <a:r>
              <a:rPr lang="en-US" b="0" i="0" dirty="0">
                <a:solidFill>
                  <a:srgbClr val="1F2328"/>
                </a:solidFill>
                <a:effectLst/>
                <a:latin typeface="Mona Sans VF"/>
              </a:rPr>
              <a:t>Denilson</a:t>
            </a:r>
          </a:p>
          <a:p>
            <a:pPr algn="l">
              <a:buFont typeface="Arial" panose="020B0604020202020204" pitchFamily="34" charset="0"/>
              <a:buChar char="•"/>
            </a:pPr>
            <a:r>
              <a:rPr lang="en-US" b="0" i="0" dirty="0" err="1">
                <a:solidFill>
                  <a:srgbClr val="1F2328"/>
                </a:solidFill>
                <a:effectLst/>
                <a:latin typeface="Mona Sans VF"/>
              </a:rPr>
              <a:t>Ludovina</a:t>
            </a:r>
            <a:endParaRPr lang="en-US" b="0" i="0" dirty="0">
              <a:solidFill>
                <a:srgbClr val="1F2328"/>
              </a:solidFill>
              <a:effectLst/>
              <a:latin typeface="Mona Sans VF"/>
            </a:endParaRPr>
          </a:p>
          <a:p>
            <a:pPr algn="l">
              <a:buFont typeface="Arial" panose="020B0604020202020204" pitchFamily="34" charset="0"/>
              <a:buChar char="•"/>
            </a:pPr>
            <a:r>
              <a:rPr lang="en-US" b="0" i="0" dirty="0" err="1">
                <a:solidFill>
                  <a:srgbClr val="1F2328"/>
                </a:solidFill>
                <a:effectLst/>
                <a:latin typeface="Mona Sans VF"/>
              </a:rPr>
              <a:t>Frederico</a:t>
            </a:r>
            <a:endParaRPr lang="en-US" b="0" i="0" dirty="0">
              <a:solidFill>
                <a:srgbClr val="1F2328"/>
              </a:solidFill>
              <a:effectLst/>
              <a:latin typeface="Mona Sans VF"/>
            </a:endParaRPr>
          </a:p>
          <a:p>
            <a:endParaRPr lang="en-US" dirty="0"/>
          </a:p>
        </p:txBody>
      </p:sp>
    </p:spTree>
    <p:extLst>
      <p:ext uri="{BB962C8B-B14F-4D97-AF65-F5344CB8AC3E}">
        <p14:creationId xmlns:p14="http://schemas.microsoft.com/office/powerpoint/2010/main" val="143461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694F8-EB51-8221-23EE-A20168EC5344}"/>
              </a:ext>
            </a:extLst>
          </p:cNvPr>
          <p:cNvSpPr>
            <a:spLocks noGrp="1"/>
          </p:cNvSpPr>
          <p:nvPr>
            <p:ph type="title"/>
          </p:nvPr>
        </p:nvSpPr>
        <p:spPr/>
        <p:txBody>
          <a:bodyPr/>
          <a:lstStyle/>
          <a:p>
            <a:r>
              <a:rPr lang="en-US" b="1" i="0" dirty="0" err="1">
                <a:solidFill>
                  <a:srgbClr val="1F2328"/>
                </a:solidFill>
                <a:effectLst/>
                <a:latin typeface="Mona Sans VF"/>
              </a:rPr>
              <a:t>Descrição</a:t>
            </a:r>
            <a:br>
              <a:rPr lang="en-US" b="1" i="0" dirty="0">
                <a:solidFill>
                  <a:srgbClr val="1F2328"/>
                </a:solidFill>
                <a:effectLst/>
                <a:latin typeface="Mona Sans VF"/>
              </a:rPr>
            </a:br>
            <a:endParaRPr lang="en-US" dirty="0"/>
          </a:p>
        </p:txBody>
      </p:sp>
      <p:sp>
        <p:nvSpPr>
          <p:cNvPr id="3" name="Content Placeholder 2">
            <a:extLst>
              <a:ext uri="{FF2B5EF4-FFF2-40B4-BE49-F238E27FC236}">
                <a16:creationId xmlns:a16="http://schemas.microsoft.com/office/drawing/2014/main" id="{C4425BD6-6560-A476-E338-28E8EABF97E2}"/>
              </a:ext>
            </a:extLst>
          </p:cNvPr>
          <p:cNvSpPr>
            <a:spLocks noGrp="1"/>
          </p:cNvSpPr>
          <p:nvPr>
            <p:ph idx="1"/>
          </p:nvPr>
        </p:nvSpPr>
        <p:spPr/>
        <p:txBody>
          <a:bodyPr/>
          <a:lstStyle/>
          <a:p>
            <a:pPr marL="0" indent="0" algn="l">
              <a:buNone/>
            </a:pPr>
            <a:r>
              <a:rPr lang="pt-PT" b="0" i="0" dirty="0">
                <a:solidFill>
                  <a:srgbClr val="1F2328"/>
                </a:solidFill>
                <a:effectLst/>
                <a:latin typeface="Mona Sans VF"/>
              </a:rPr>
              <a:t>Este projeto implementa um sistema de registro de estudantes utilizando duas abordagens de tabelas </a:t>
            </a:r>
            <a:r>
              <a:rPr lang="pt-PT" b="0" i="0" dirty="0" err="1">
                <a:solidFill>
                  <a:srgbClr val="1F2328"/>
                </a:solidFill>
                <a:effectLst/>
                <a:latin typeface="Mona Sans VF"/>
              </a:rPr>
              <a:t>hash</a:t>
            </a:r>
            <a:r>
              <a:rPr lang="pt-PT" b="0" i="0" dirty="0">
                <a:solidFill>
                  <a:srgbClr val="1F2328"/>
                </a:solidFill>
                <a:effectLst/>
                <a:latin typeface="Mona Sans VF"/>
              </a:rPr>
              <a:t>:</a:t>
            </a:r>
          </a:p>
          <a:p>
            <a:pPr algn="l">
              <a:buFont typeface="Arial" panose="020B0604020202020204" pitchFamily="34" charset="0"/>
              <a:buChar char="•"/>
            </a:pPr>
            <a:r>
              <a:rPr lang="pt-PT" b="1" i="0" dirty="0">
                <a:solidFill>
                  <a:srgbClr val="1F2328"/>
                </a:solidFill>
                <a:effectLst/>
                <a:latin typeface="Mona Sans VF"/>
              </a:rPr>
              <a:t>Encadeamento (Lista Ligada)</a:t>
            </a:r>
            <a:r>
              <a:rPr lang="pt-PT" b="0" i="0" dirty="0">
                <a:solidFill>
                  <a:srgbClr val="1F2328"/>
                </a:solidFill>
                <a:effectLst/>
                <a:latin typeface="Mona Sans VF"/>
              </a:rPr>
              <a:t>: Resolve colisões através de listas encadeadas</a:t>
            </a:r>
          </a:p>
          <a:p>
            <a:pPr algn="l">
              <a:buFont typeface="Arial" panose="020B0604020202020204" pitchFamily="34" charset="0"/>
              <a:buChar char="•"/>
            </a:pPr>
            <a:r>
              <a:rPr lang="pt-PT" b="1" i="0" dirty="0">
                <a:solidFill>
                  <a:srgbClr val="1F2328"/>
                </a:solidFill>
                <a:effectLst/>
                <a:latin typeface="Mona Sans VF"/>
              </a:rPr>
              <a:t>Sondagem Linear</a:t>
            </a:r>
            <a:r>
              <a:rPr lang="pt-PT" b="0" i="0" dirty="0">
                <a:solidFill>
                  <a:srgbClr val="1F2328"/>
                </a:solidFill>
                <a:effectLst/>
                <a:latin typeface="Mona Sans VF"/>
              </a:rPr>
              <a:t>: Resolve colisões procurando a próxima posição disponível</a:t>
            </a:r>
          </a:p>
          <a:p>
            <a:pPr marL="0" indent="0" algn="l">
              <a:buNone/>
            </a:pPr>
            <a:r>
              <a:rPr lang="pt-PT" b="0" i="0" dirty="0">
                <a:solidFill>
                  <a:srgbClr val="1F2328"/>
                </a:solidFill>
                <a:effectLst/>
                <a:latin typeface="Mona Sans VF"/>
              </a:rPr>
              <a:t>O sistema permite inserir, buscar e remover estudantes, com persistência de dados em arquivos e validações robustas de entrada.</a:t>
            </a:r>
          </a:p>
          <a:p>
            <a:endParaRPr lang="en-US" dirty="0"/>
          </a:p>
        </p:txBody>
      </p:sp>
    </p:spTree>
    <p:extLst>
      <p:ext uri="{BB962C8B-B14F-4D97-AF65-F5344CB8AC3E}">
        <p14:creationId xmlns:p14="http://schemas.microsoft.com/office/powerpoint/2010/main" val="1225984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3552-B988-ECAC-85D8-D43E6EE5D3C4}"/>
              </a:ext>
            </a:extLst>
          </p:cNvPr>
          <p:cNvSpPr>
            <a:spLocks noGrp="1"/>
          </p:cNvSpPr>
          <p:nvPr>
            <p:ph type="title"/>
          </p:nvPr>
        </p:nvSpPr>
        <p:spPr/>
        <p:txBody>
          <a:bodyPr/>
          <a:lstStyle/>
          <a:p>
            <a:r>
              <a:rPr lang="en-US" b="1" i="0" dirty="0" err="1">
                <a:solidFill>
                  <a:srgbClr val="1F2328"/>
                </a:solidFill>
                <a:effectLst/>
                <a:latin typeface="Mona Sans VF"/>
              </a:rPr>
              <a:t>Funcionalidades</a:t>
            </a:r>
            <a:br>
              <a:rPr lang="en-US" b="1" i="0" dirty="0">
                <a:solidFill>
                  <a:srgbClr val="1F2328"/>
                </a:solidFill>
                <a:effectLst/>
                <a:latin typeface="Mona Sans VF"/>
              </a:rPr>
            </a:br>
            <a:endParaRPr lang="en-US" dirty="0"/>
          </a:p>
        </p:txBody>
      </p:sp>
      <p:sp>
        <p:nvSpPr>
          <p:cNvPr id="3" name="Content Placeholder 2">
            <a:extLst>
              <a:ext uri="{FF2B5EF4-FFF2-40B4-BE49-F238E27FC236}">
                <a16:creationId xmlns:a16="http://schemas.microsoft.com/office/drawing/2014/main" id="{89CC9291-C3EF-0E24-2CBD-86D8E400865B}"/>
              </a:ext>
            </a:extLst>
          </p:cNvPr>
          <p:cNvSpPr>
            <a:spLocks noGrp="1"/>
          </p:cNvSpPr>
          <p:nvPr>
            <p:ph idx="1"/>
          </p:nvPr>
        </p:nvSpPr>
        <p:spPr/>
        <p:txBody>
          <a:bodyPr/>
          <a:lstStyle/>
          <a:p>
            <a:pPr algn="l">
              <a:buFont typeface="Arial" panose="020B0604020202020204" pitchFamily="34" charset="0"/>
              <a:buChar char="•"/>
            </a:pPr>
            <a:r>
              <a:rPr lang="pt-PT" b="1" i="0" dirty="0">
                <a:solidFill>
                  <a:srgbClr val="1F2328"/>
                </a:solidFill>
                <a:effectLst/>
                <a:latin typeface="Mona Sans VF"/>
              </a:rPr>
              <a:t>Inserir Estudante</a:t>
            </a:r>
            <a:r>
              <a:rPr lang="pt-PT" b="0" i="0" dirty="0">
                <a:solidFill>
                  <a:srgbClr val="1F2328"/>
                </a:solidFill>
                <a:effectLst/>
                <a:latin typeface="Mona Sans VF"/>
              </a:rPr>
              <a:t>: Adiciona novo estudante nas duas tabelas simultaneamente</a:t>
            </a:r>
          </a:p>
          <a:p>
            <a:pPr algn="l">
              <a:buFont typeface="Arial" panose="020B0604020202020204" pitchFamily="34" charset="0"/>
              <a:buChar char="•"/>
            </a:pPr>
            <a:r>
              <a:rPr lang="pt-PT" b="1" i="0" dirty="0">
                <a:solidFill>
                  <a:srgbClr val="1F2328"/>
                </a:solidFill>
                <a:effectLst/>
                <a:latin typeface="Mona Sans VF"/>
              </a:rPr>
              <a:t>Procurar Estudante</a:t>
            </a:r>
            <a:r>
              <a:rPr lang="pt-PT" b="0" i="0" dirty="0">
                <a:solidFill>
                  <a:srgbClr val="1F2328"/>
                </a:solidFill>
                <a:effectLst/>
                <a:latin typeface="Mona Sans VF"/>
              </a:rPr>
              <a:t>: Busca por índice em qualquer uma das tabelas</a:t>
            </a:r>
          </a:p>
          <a:p>
            <a:pPr algn="l">
              <a:buFont typeface="Arial" panose="020B0604020202020204" pitchFamily="34" charset="0"/>
              <a:buChar char="•"/>
            </a:pPr>
            <a:r>
              <a:rPr lang="pt-PT" b="1" i="0" dirty="0">
                <a:solidFill>
                  <a:srgbClr val="1F2328"/>
                </a:solidFill>
                <a:effectLst/>
                <a:latin typeface="Mona Sans VF"/>
              </a:rPr>
              <a:t>Remover Estudante</a:t>
            </a:r>
            <a:r>
              <a:rPr lang="pt-PT" b="0" i="0" dirty="0">
                <a:solidFill>
                  <a:srgbClr val="1F2328"/>
                </a:solidFill>
                <a:effectLst/>
                <a:latin typeface="Mona Sans VF"/>
              </a:rPr>
              <a:t>: Remove de ambas as tabelas de forma sincronizada</a:t>
            </a:r>
          </a:p>
          <a:p>
            <a:pPr marL="0" indent="0">
              <a:buNone/>
            </a:pPr>
            <a:endParaRPr lang="en-US" dirty="0"/>
          </a:p>
        </p:txBody>
      </p:sp>
    </p:spTree>
    <p:extLst>
      <p:ext uri="{BB962C8B-B14F-4D97-AF65-F5344CB8AC3E}">
        <p14:creationId xmlns:p14="http://schemas.microsoft.com/office/powerpoint/2010/main" val="1857337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FB30D-A216-1155-0E0E-28074751C9E5}"/>
              </a:ext>
            </a:extLst>
          </p:cNvPr>
          <p:cNvSpPr>
            <a:spLocks noGrp="1"/>
          </p:cNvSpPr>
          <p:nvPr>
            <p:ph type="title"/>
          </p:nvPr>
        </p:nvSpPr>
        <p:spPr/>
        <p:txBody>
          <a:bodyPr/>
          <a:lstStyle/>
          <a:p>
            <a:r>
              <a:rPr lang="pt-PT" b="1" dirty="0"/>
              <a:t>1. INTRODUÇÃO AO PROBLEMA</a:t>
            </a:r>
            <a:endParaRPr lang="en-US" b="1" dirty="0"/>
          </a:p>
        </p:txBody>
      </p:sp>
      <p:sp>
        <p:nvSpPr>
          <p:cNvPr id="3" name="Content Placeholder 2">
            <a:extLst>
              <a:ext uri="{FF2B5EF4-FFF2-40B4-BE49-F238E27FC236}">
                <a16:creationId xmlns:a16="http://schemas.microsoft.com/office/drawing/2014/main" id="{A8EF6DB8-5FA4-ED77-0A70-3EF12BCEB535}"/>
              </a:ext>
            </a:extLst>
          </p:cNvPr>
          <p:cNvSpPr>
            <a:spLocks noGrp="1"/>
          </p:cNvSpPr>
          <p:nvPr>
            <p:ph idx="1"/>
          </p:nvPr>
        </p:nvSpPr>
        <p:spPr/>
        <p:txBody>
          <a:bodyPr>
            <a:normAutofit/>
          </a:bodyPr>
          <a:lstStyle/>
          <a:p>
            <a:pPr marL="0" indent="0">
              <a:buNone/>
            </a:pPr>
            <a:r>
              <a:rPr lang="pt-PT" dirty="0"/>
              <a:t>O gerenciamento eficiente de dados de estudantes é um desafio comum em instituições de ensino. Sistemas tradicionais baseados em </a:t>
            </a:r>
            <a:r>
              <a:rPr lang="pt-PT" dirty="0" err="1"/>
              <a:t>arrays</a:t>
            </a:r>
            <a:r>
              <a:rPr lang="pt-PT" dirty="0"/>
              <a:t> ou listas simples podem apresentar limitações quanto à velocidade de busca, especialmente quando o volume de dados cresce. Este projeto implementa um sistema de registo de estudantes utilizando tabelas </a:t>
            </a:r>
            <a:r>
              <a:rPr lang="pt-PT" dirty="0" err="1"/>
              <a:t>hash</a:t>
            </a:r>
            <a:r>
              <a:rPr lang="pt-PT" dirty="0"/>
              <a:t>, uma estrutura de dados que permite inserção, busca e remoção rápidas através de uma função de espalhamento. O sistema foi desenvolvido colaborativamente por três programadores (</a:t>
            </a:r>
            <a:r>
              <a:rPr lang="pt-PT" dirty="0" err="1"/>
              <a:t>Denilson</a:t>
            </a:r>
            <a:r>
              <a:rPr lang="pt-PT" dirty="0"/>
              <a:t>, Ludovina e Frederico) ao longo de 13 versões (</a:t>
            </a:r>
            <a:r>
              <a:rPr lang="pt-PT" dirty="0" err="1"/>
              <a:t>commits</a:t>
            </a:r>
            <a:r>
              <a:rPr lang="pt-PT" dirty="0"/>
              <a:t>), cada um contribuindo com funcionalidades específicas. </a:t>
            </a:r>
            <a:endParaRPr lang="en-US" dirty="0"/>
          </a:p>
        </p:txBody>
      </p:sp>
    </p:spTree>
    <p:extLst>
      <p:ext uri="{BB962C8B-B14F-4D97-AF65-F5344CB8AC3E}">
        <p14:creationId xmlns:p14="http://schemas.microsoft.com/office/powerpoint/2010/main" val="359480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899B-05EE-9916-7B8A-3939821184B3}"/>
              </a:ext>
            </a:extLst>
          </p:cNvPr>
          <p:cNvSpPr>
            <a:spLocks noGrp="1"/>
          </p:cNvSpPr>
          <p:nvPr>
            <p:ph type="title"/>
          </p:nvPr>
        </p:nvSpPr>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7CD56F83-B5A3-52A3-06D4-8277D1B880B1}"/>
              </a:ext>
            </a:extLst>
          </p:cNvPr>
          <p:cNvSpPr>
            <a:spLocks noGrp="1"/>
          </p:cNvSpPr>
          <p:nvPr>
            <p:ph idx="1"/>
          </p:nvPr>
        </p:nvSpPr>
        <p:spPr/>
        <p:txBody>
          <a:bodyPr/>
          <a:lstStyle/>
          <a:p>
            <a:pPr marL="0" indent="0">
              <a:buNone/>
            </a:pPr>
            <a:r>
              <a:rPr lang="pt-PT" dirty="0"/>
              <a:t>O problema principal consiste em: </a:t>
            </a:r>
          </a:p>
          <a:p>
            <a:pPr marL="0" indent="0">
              <a:buNone/>
            </a:pPr>
            <a:r>
              <a:rPr lang="pt-PT" dirty="0"/>
              <a:t>• Armazenar informações de estudantes (número de matrícula, nome e curso) </a:t>
            </a:r>
          </a:p>
          <a:p>
            <a:pPr marL="0" indent="0">
              <a:buNone/>
            </a:pPr>
            <a:r>
              <a:rPr lang="pt-PT" dirty="0"/>
              <a:t>• Permitir operações rápidas de inserção, busca e remoção • Comparar duas estratégias separado e sondagem linear de tratamento </a:t>
            </a:r>
          </a:p>
          <a:p>
            <a:pPr marL="0" indent="0">
              <a:buNone/>
            </a:pPr>
            <a:r>
              <a:rPr lang="pt-PT" dirty="0"/>
              <a:t>• Garantir persistência dos dados em arquivos </a:t>
            </a:r>
          </a:p>
          <a:p>
            <a:pPr marL="0" indent="0">
              <a:buNone/>
            </a:pPr>
            <a:r>
              <a:rPr lang="pt-PT" dirty="0"/>
              <a:t>• Implementar validações robustas de entrada </a:t>
            </a:r>
          </a:p>
          <a:p>
            <a:pPr marL="0" indent="0">
              <a:buNone/>
            </a:pPr>
            <a:r>
              <a:rPr lang="pt-PT" dirty="0"/>
              <a:t>• Preservar zeros à esquerda nos números de matrícula</a:t>
            </a:r>
            <a:endParaRPr lang="en-US" dirty="0"/>
          </a:p>
        </p:txBody>
      </p:sp>
    </p:spTree>
    <p:extLst>
      <p:ext uri="{BB962C8B-B14F-4D97-AF65-F5344CB8AC3E}">
        <p14:creationId xmlns:p14="http://schemas.microsoft.com/office/powerpoint/2010/main" val="235915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D526B-EC0E-FFFC-9339-F01E0966E6C1}"/>
              </a:ext>
            </a:extLst>
          </p:cNvPr>
          <p:cNvSpPr>
            <a:spLocks noGrp="1"/>
          </p:cNvSpPr>
          <p:nvPr>
            <p:ph type="title"/>
          </p:nvPr>
        </p:nvSpPr>
        <p:spPr/>
        <p:txBody>
          <a:bodyPr/>
          <a:lstStyle/>
          <a:p>
            <a:r>
              <a:rPr lang="pt-PT" b="1" dirty="0"/>
              <a:t>2. EXPLICAÇÃO DO ALGORITMO OU ESTRUTURA</a:t>
            </a:r>
            <a:endParaRPr lang="en-US" b="1" dirty="0"/>
          </a:p>
        </p:txBody>
      </p:sp>
      <p:sp>
        <p:nvSpPr>
          <p:cNvPr id="3" name="Content Placeholder 2">
            <a:extLst>
              <a:ext uri="{FF2B5EF4-FFF2-40B4-BE49-F238E27FC236}">
                <a16:creationId xmlns:a16="http://schemas.microsoft.com/office/drawing/2014/main" id="{EDC4F865-3458-53A4-57BE-D714459C81A0}"/>
              </a:ext>
            </a:extLst>
          </p:cNvPr>
          <p:cNvSpPr>
            <a:spLocks noGrp="1"/>
          </p:cNvSpPr>
          <p:nvPr>
            <p:ph idx="1"/>
          </p:nvPr>
        </p:nvSpPr>
        <p:spPr/>
        <p:txBody>
          <a:bodyPr/>
          <a:lstStyle/>
          <a:p>
            <a:pPr marL="0" indent="0">
              <a:buNone/>
            </a:pPr>
            <a:r>
              <a:rPr lang="pt-PT" b="1" dirty="0"/>
              <a:t>2.1 Tabela </a:t>
            </a:r>
            <a:r>
              <a:rPr lang="pt-PT" b="1" dirty="0" err="1"/>
              <a:t>Hash</a:t>
            </a:r>
            <a:r>
              <a:rPr lang="pt-PT" dirty="0"/>
              <a:t> </a:t>
            </a:r>
          </a:p>
          <a:p>
            <a:pPr marL="0" indent="0">
              <a:buNone/>
            </a:pPr>
            <a:r>
              <a:rPr lang="pt-PT" dirty="0"/>
              <a:t>Uma </a:t>
            </a:r>
            <a:r>
              <a:rPr lang="pt-PT" b="1" dirty="0"/>
              <a:t>tabela </a:t>
            </a:r>
            <a:r>
              <a:rPr lang="pt-PT" b="1" dirty="0" err="1"/>
              <a:t>hash</a:t>
            </a:r>
            <a:r>
              <a:rPr lang="pt-PT" b="1" dirty="0"/>
              <a:t> </a:t>
            </a:r>
            <a:r>
              <a:rPr lang="pt-PT" dirty="0"/>
              <a:t>é uma estrutura de dados que associa chaves de pesquisa a valores através de uma função de </a:t>
            </a:r>
            <a:r>
              <a:rPr lang="pt-PT" dirty="0" err="1"/>
              <a:t>hash</a:t>
            </a:r>
            <a:r>
              <a:rPr lang="pt-PT" dirty="0"/>
              <a:t>. A função de </a:t>
            </a:r>
            <a:r>
              <a:rPr lang="pt-PT" dirty="0" err="1"/>
              <a:t>hash</a:t>
            </a:r>
            <a:r>
              <a:rPr lang="pt-PT" dirty="0"/>
              <a:t> mapeia a chave para um índice dentro de um </a:t>
            </a:r>
            <a:r>
              <a:rPr lang="pt-PT" dirty="0" err="1"/>
              <a:t>array</a:t>
            </a:r>
            <a:r>
              <a:rPr lang="pt-PT" dirty="0"/>
              <a:t>, permitindo acesso direto aos dados.</a:t>
            </a:r>
          </a:p>
          <a:p>
            <a:pPr marL="0" indent="0">
              <a:buNone/>
            </a:pPr>
            <a:r>
              <a:rPr lang="pt-PT" dirty="0"/>
              <a:t>Uma </a:t>
            </a:r>
            <a:r>
              <a:rPr lang="pt-PT" b="1" dirty="0"/>
              <a:t>Tabela </a:t>
            </a:r>
            <a:r>
              <a:rPr lang="pt-PT" b="1" dirty="0" err="1"/>
              <a:t>Hash</a:t>
            </a:r>
            <a:r>
              <a:rPr lang="pt-PT" dirty="0"/>
              <a:t> é uma estrutura de dados que armazena pares </a:t>
            </a:r>
            <a:r>
              <a:rPr lang="pt-PT" b="1" dirty="0"/>
              <a:t>(chave, valor)</a:t>
            </a:r>
            <a:r>
              <a:rPr lang="pt-PT" dirty="0"/>
              <a:t> e utiliza uma função chamada </a:t>
            </a:r>
            <a:r>
              <a:rPr lang="pt-PT" b="1" dirty="0"/>
              <a:t>função </a:t>
            </a:r>
            <a:r>
              <a:rPr lang="pt-PT" b="1" dirty="0" err="1"/>
              <a:t>hash</a:t>
            </a:r>
            <a:r>
              <a:rPr lang="pt-PT" dirty="0"/>
              <a:t> para calcular o índice onde o valor será armazenado.</a:t>
            </a:r>
          </a:p>
        </p:txBody>
      </p:sp>
    </p:spTree>
    <p:extLst>
      <p:ext uri="{BB962C8B-B14F-4D97-AF65-F5344CB8AC3E}">
        <p14:creationId xmlns:p14="http://schemas.microsoft.com/office/powerpoint/2010/main" val="2797523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95ED-C729-78AE-99A1-8945A499F74B}"/>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0381901C-B62C-B8BC-7D6A-60069A30FDFA}"/>
              </a:ext>
            </a:extLst>
          </p:cNvPr>
          <p:cNvSpPr>
            <a:spLocks noGrp="1"/>
          </p:cNvSpPr>
          <p:nvPr>
            <p:ph idx="1"/>
          </p:nvPr>
        </p:nvSpPr>
        <p:spPr/>
        <p:txBody>
          <a:bodyPr>
            <a:normAutofit lnSpcReduction="10000"/>
          </a:bodyPr>
          <a:lstStyle/>
          <a:p>
            <a:pPr marL="0" indent="0">
              <a:buNone/>
            </a:pPr>
            <a:r>
              <a:rPr lang="en-US" dirty="0" err="1"/>
              <a:t>Exemplo</a:t>
            </a:r>
            <a:r>
              <a:rPr lang="en-US" dirty="0"/>
              <a:t>:</a:t>
            </a:r>
          </a:p>
          <a:p>
            <a:pPr marL="0" indent="0">
              <a:buNone/>
            </a:pPr>
            <a:r>
              <a:rPr lang="pt-PT" dirty="0"/>
              <a:t>Se tivermos uma tabela de tamanho 10:</a:t>
            </a:r>
          </a:p>
          <a:p>
            <a:pPr marL="0" indent="0">
              <a:buNone/>
            </a:pPr>
            <a:r>
              <a:rPr lang="en-US" dirty="0" err="1"/>
              <a:t>Chave</a:t>
            </a:r>
            <a:r>
              <a:rPr lang="en-US" dirty="0"/>
              <a:t>: 21</a:t>
            </a:r>
          </a:p>
          <a:p>
            <a:pPr marL="0" indent="0">
              <a:buNone/>
            </a:pPr>
            <a:r>
              <a:rPr lang="en-US" dirty="0" err="1"/>
              <a:t>Função</a:t>
            </a:r>
            <a:r>
              <a:rPr lang="en-US" dirty="0"/>
              <a:t> hash: h(x) = x % 10</a:t>
            </a:r>
          </a:p>
          <a:p>
            <a:pPr marL="0" indent="0">
              <a:buNone/>
            </a:pPr>
            <a:r>
              <a:rPr lang="pt-PT" dirty="0"/>
              <a:t>O valor será armazenado na posição </a:t>
            </a:r>
            <a:r>
              <a:rPr lang="pt-PT" b="1" dirty="0"/>
              <a:t>1</a:t>
            </a:r>
            <a:r>
              <a:rPr lang="pt-PT" dirty="0"/>
              <a:t>.</a:t>
            </a:r>
          </a:p>
          <a:p>
            <a:pPr marL="0" indent="0">
              <a:buNone/>
            </a:pPr>
            <a:r>
              <a:rPr lang="pt-PT" dirty="0"/>
              <a:t>A Tabela </a:t>
            </a:r>
            <a:r>
              <a:rPr lang="pt-PT" dirty="0" err="1"/>
              <a:t>Hash</a:t>
            </a:r>
            <a:r>
              <a:rPr lang="pt-PT" dirty="0"/>
              <a:t> é uma das estruturas de dados mais importantes na computação moderna, oferecendo alto desempenho na manipulação de dados. Apesar de suas limitações, quando bem implementada, é uma solução eficiente para diversos problemas práticos.</a:t>
            </a:r>
          </a:p>
          <a:p>
            <a:pPr marL="0" indent="0">
              <a:buNone/>
            </a:pPr>
            <a:endParaRPr lang="en-US" dirty="0"/>
          </a:p>
        </p:txBody>
      </p:sp>
    </p:spTree>
    <p:extLst>
      <p:ext uri="{BB962C8B-B14F-4D97-AF65-F5344CB8AC3E}">
        <p14:creationId xmlns:p14="http://schemas.microsoft.com/office/powerpoint/2010/main" val="1982151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D2B7-660B-B31D-32AE-8E496893EBB7}"/>
              </a:ext>
            </a:extLst>
          </p:cNvPr>
          <p:cNvSpPr>
            <a:spLocks noGrp="1"/>
          </p:cNvSpPr>
          <p:nvPr>
            <p:ph type="title"/>
          </p:nvPr>
        </p:nvSpPr>
        <p:spPr/>
        <p:txBody>
          <a:bodyPr/>
          <a:lstStyle/>
          <a:p>
            <a:r>
              <a:rPr lang="en-US" b="1" dirty="0"/>
              <a:t>2.2Vantagens e </a:t>
            </a:r>
            <a:r>
              <a:rPr lang="en-US" b="1" dirty="0" err="1"/>
              <a:t>Desvantagens</a:t>
            </a:r>
            <a:r>
              <a:rPr lang="en-US" b="1" dirty="0"/>
              <a:t>.</a:t>
            </a:r>
          </a:p>
        </p:txBody>
      </p:sp>
      <p:sp>
        <p:nvSpPr>
          <p:cNvPr id="3" name="Content Placeholder 2">
            <a:extLst>
              <a:ext uri="{FF2B5EF4-FFF2-40B4-BE49-F238E27FC236}">
                <a16:creationId xmlns:a16="http://schemas.microsoft.com/office/drawing/2014/main" id="{3E8D8F2F-FDF5-85DC-F919-2C64AF85AD8E}"/>
              </a:ext>
            </a:extLst>
          </p:cNvPr>
          <p:cNvSpPr>
            <a:spLocks noGrp="1"/>
          </p:cNvSpPr>
          <p:nvPr>
            <p:ph idx="1"/>
          </p:nvPr>
        </p:nvSpPr>
        <p:spPr/>
        <p:txBody>
          <a:bodyPr>
            <a:normAutofit fontScale="92500" lnSpcReduction="10000"/>
          </a:bodyPr>
          <a:lstStyle/>
          <a:p>
            <a:pPr marL="0" indent="0">
              <a:buNone/>
            </a:pPr>
            <a:r>
              <a:rPr lang="pt-PT" b="1" dirty="0"/>
              <a:t>Vantagens:</a:t>
            </a:r>
            <a:r>
              <a:rPr lang="pt-PT" dirty="0"/>
              <a:t> </a:t>
            </a:r>
          </a:p>
          <a:p>
            <a:pPr marL="0" indent="0">
              <a:buNone/>
            </a:pPr>
            <a:r>
              <a:rPr lang="pt-PT" dirty="0"/>
              <a:t>• Inserção, busca e remoção em tempo médio O(1) </a:t>
            </a:r>
          </a:p>
          <a:p>
            <a:pPr marL="0" indent="0">
              <a:buNone/>
            </a:pPr>
            <a:r>
              <a:rPr lang="pt-PT" dirty="0"/>
              <a:t>• Ideal para conjuntos de dados onde a busca rápida é prioritária</a:t>
            </a:r>
          </a:p>
          <a:p>
            <a:pPr>
              <a:buFont typeface="Arial" panose="020B0604020202020204" pitchFamily="34" charset="0"/>
              <a:buChar char="•"/>
            </a:pPr>
            <a:r>
              <a:rPr lang="pt-PT" dirty="0"/>
              <a:t>Acesso extremamente rápido </a:t>
            </a:r>
          </a:p>
          <a:p>
            <a:pPr>
              <a:buFont typeface="Arial" panose="020B0604020202020204" pitchFamily="34" charset="0"/>
              <a:buChar char="•"/>
            </a:pPr>
            <a:r>
              <a:rPr lang="pt-PT" dirty="0"/>
              <a:t>Estrutura simples </a:t>
            </a:r>
          </a:p>
          <a:p>
            <a:pPr>
              <a:buFont typeface="Arial" panose="020B0604020202020204" pitchFamily="34" charset="0"/>
              <a:buChar char="•"/>
            </a:pPr>
            <a:r>
              <a:rPr lang="pt-PT" dirty="0"/>
              <a:t>Muito eficiente para grandes volumes de dados </a:t>
            </a:r>
            <a:endParaRPr lang="en-US" dirty="0"/>
          </a:p>
          <a:p>
            <a:pPr marL="0" indent="0">
              <a:buNone/>
            </a:pPr>
            <a:r>
              <a:rPr lang="en-US" b="1" dirty="0" err="1"/>
              <a:t>Desvantagens</a:t>
            </a:r>
            <a:r>
              <a:rPr lang="en-US" b="1" dirty="0"/>
              <a:t>: </a:t>
            </a:r>
          </a:p>
          <a:p>
            <a:pPr marL="0" indent="0">
              <a:buNone/>
            </a:pPr>
            <a:r>
              <a:rPr lang="pt-PT" dirty="0"/>
              <a:t>• Necessidade de tratar colisões (quando duas chaves diferentes geram o mesmo índice) </a:t>
            </a:r>
          </a:p>
          <a:p>
            <a:pPr marL="0" indent="0">
              <a:buNone/>
            </a:pPr>
            <a:r>
              <a:rPr lang="pt-PT" dirty="0"/>
              <a:t>• Performance degrada com fator de carga elevado</a:t>
            </a:r>
            <a:endParaRPr lang="en-US" dirty="0"/>
          </a:p>
        </p:txBody>
      </p:sp>
    </p:spTree>
    <p:extLst>
      <p:ext uri="{BB962C8B-B14F-4D97-AF65-F5344CB8AC3E}">
        <p14:creationId xmlns:p14="http://schemas.microsoft.com/office/powerpoint/2010/main" val="207189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AD67D-CE7E-0706-1AC7-751710E38DEB}"/>
              </a:ext>
            </a:extLst>
          </p:cNvPr>
          <p:cNvSpPr>
            <a:spLocks noGrp="1"/>
          </p:cNvSpPr>
          <p:nvPr>
            <p:ph type="title"/>
          </p:nvPr>
        </p:nvSpPr>
        <p:spPr/>
        <p:txBody>
          <a:bodyPr/>
          <a:lstStyle/>
          <a:p>
            <a:r>
              <a:rPr lang="en-US" b="1" dirty="0" err="1"/>
              <a:t>Cont</a:t>
            </a:r>
            <a:r>
              <a:rPr lang="en-US" b="1" dirty="0"/>
              <a:t>…</a:t>
            </a:r>
          </a:p>
        </p:txBody>
      </p:sp>
      <p:sp>
        <p:nvSpPr>
          <p:cNvPr id="3" name="Content Placeholder 2">
            <a:extLst>
              <a:ext uri="{FF2B5EF4-FFF2-40B4-BE49-F238E27FC236}">
                <a16:creationId xmlns:a16="http://schemas.microsoft.com/office/drawing/2014/main" id="{A38A476F-37B7-ACD2-4792-5B61B722F3B0}"/>
              </a:ext>
            </a:extLst>
          </p:cNvPr>
          <p:cNvSpPr>
            <a:spLocks noGrp="1"/>
          </p:cNvSpPr>
          <p:nvPr>
            <p:ph idx="1"/>
          </p:nvPr>
        </p:nvSpPr>
        <p:spPr/>
        <p:txBody>
          <a:bodyPr/>
          <a:lstStyle/>
          <a:p>
            <a:pPr>
              <a:buFont typeface="Arial" panose="020B0604020202020204" pitchFamily="34" charset="0"/>
              <a:buChar char="•"/>
            </a:pPr>
            <a:r>
              <a:rPr lang="pt-PT" dirty="0"/>
              <a:t>Colisões podem afetar desempenho </a:t>
            </a:r>
          </a:p>
          <a:p>
            <a:pPr>
              <a:buFont typeface="Arial" panose="020B0604020202020204" pitchFamily="34" charset="0"/>
              <a:buChar char="•"/>
            </a:pPr>
            <a:r>
              <a:rPr lang="pt-PT" dirty="0"/>
              <a:t>Dependência da função </a:t>
            </a:r>
            <a:r>
              <a:rPr lang="pt-PT" dirty="0" err="1"/>
              <a:t>hash</a:t>
            </a:r>
            <a:r>
              <a:rPr lang="pt-PT" dirty="0"/>
              <a:t> </a:t>
            </a:r>
          </a:p>
          <a:p>
            <a:pPr>
              <a:buFont typeface="Arial" panose="020B0604020202020204" pitchFamily="34" charset="0"/>
              <a:buChar char="•"/>
            </a:pPr>
            <a:r>
              <a:rPr lang="pt-PT" dirty="0"/>
              <a:t>Pode desperdiçar memória </a:t>
            </a:r>
          </a:p>
          <a:p>
            <a:pPr marL="0" indent="0">
              <a:buNone/>
            </a:pPr>
            <a:endParaRPr lang="en-US" dirty="0"/>
          </a:p>
        </p:txBody>
      </p:sp>
    </p:spTree>
    <p:extLst>
      <p:ext uri="{BB962C8B-B14F-4D97-AF65-F5344CB8AC3E}">
        <p14:creationId xmlns:p14="http://schemas.microsoft.com/office/powerpoint/2010/main" val="214248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BDF51-B328-52D3-EB43-718F6650189C}"/>
              </a:ext>
            </a:extLst>
          </p:cNvPr>
          <p:cNvSpPr>
            <a:spLocks noGrp="1"/>
          </p:cNvSpPr>
          <p:nvPr>
            <p:ph type="title"/>
          </p:nvPr>
        </p:nvSpPr>
        <p:spPr/>
        <p:txBody>
          <a:bodyPr/>
          <a:lstStyle/>
          <a:p>
            <a:r>
              <a:rPr lang="en-US" b="1" dirty="0"/>
              <a:t>3.Função Hash</a:t>
            </a:r>
          </a:p>
        </p:txBody>
      </p:sp>
      <p:sp>
        <p:nvSpPr>
          <p:cNvPr id="3" name="Content Placeholder 2">
            <a:extLst>
              <a:ext uri="{FF2B5EF4-FFF2-40B4-BE49-F238E27FC236}">
                <a16:creationId xmlns:a16="http://schemas.microsoft.com/office/drawing/2014/main" id="{9C239EFB-7C31-A343-348D-830C1EE07475}"/>
              </a:ext>
            </a:extLst>
          </p:cNvPr>
          <p:cNvSpPr>
            <a:spLocks noGrp="1"/>
          </p:cNvSpPr>
          <p:nvPr>
            <p:ph idx="1"/>
          </p:nvPr>
        </p:nvSpPr>
        <p:spPr/>
        <p:txBody>
          <a:bodyPr/>
          <a:lstStyle/>
          <a:p>
            <a:pPr marL="0" indent="0">
              <a:buNone/>
            </a:pPr>
            <a:r>
              <a:rPr lang="pt-PT" dirty="0"/>
              <a:t>A função </a:t>
            </a:r>
            <a:r>
              <a:rPr lang="pt-PT" dirty="0" err="1"/>
              <a:t>hash</a:t>
            </a:r>
            <a:r>
              <a:rPr lang="pt-PT" dirty="0"/>
              <a:t> transforma uma chave em um índice da tabela.</a:t>
            </a:r>
          </a:p>
          <a:p>
            <a:r>
              <a:rPr lang="pt-PT" b="1" dirty="0"/>
              <a:t>Características de uma boa função </a:t>
            </a:r>
            <a:r>
              <a:rPr lang="pt-PT" b="1" dirty="0" err="1"/>
              <a:t>hash</a:t>
            </a:r>
            <a:r>
              <a:rPr lang="pt-PT" b="1" dirty="0"/>
              <a:t>:</a:t>
            </a:r>
          </a:p>
          <a:p>
            <a:pPr>
              <a:buFont typeface="Arial" panose="020B0604020202020204" pitchFamily="34" charset="0"/>
              <a:buChar char="•"/>
            </a:pPr>
            <a:r>
              <a:rPr lang="pt-PT" dirty="0"/>
              <a:t>Deve ser rápida </a:t>
            </a:r>
          </a:p>
          <a:p>
            <a:pPr>
              <a:buFont typeface="Arial" panose="020B0604020202020204" pitchFamily="34" charset="0"/>
              <a:buChar char="•"/>
            </a:pPr>
            <a:r>
              <a:rPr lang="pt-PT" dirty="0"/>
              <a:t>Deve distribuir bem os dados </a:t>
            </a:r>
          </a:p>
          <a:p>
            <a:pPr>
              <a:buFont typeface="Arial" panose="020B0604020202020204" pitchFamily="34" charset="0"/>
              <a:buChar char="•"/>
            </a:pPr>
            <a:r>
              <a:rPr lang="pt-PT" dirty="0"/>
              <a:t>Deve evitar colisões </a:t>
            </a:r>
          </a:p>
          <a:p>
            <a:r>
              <a:rPr lang="pt-PT" b="1" dirty="0"/>
              <a:t>Exemplo:</a:t>
            </a:r>
          </a:p>
          <a:p>
            <a:pPr marL="0" indent="0">
              <a:buNone/>
            </a:pPr>
            <a:r>
              <a:rPr lang="pt-PT" dirty="0"/>
              <a:t>h(x) = x % </a:t>
            </a:r>
            <a:r>
              <a:rPr lang="pt-PT" dirty="0" err="1"/>
              <a:t>tamanho_da_tabela</a:t>
            </a:r>
            <a:endParaRPr lang="en-US" dirty="0"/>
          </a:p>
        </p:txBody>
      </p:sp>
    </p:spTree>
    <p:extLst>
      <p:ext uri="{BB962C8B-B14F-4D97-AF65-F5344CB8AC3E}">
        <p14:creationId xmlns:p14="http://schemas.microsoft.com/office/powerpoint/2010/main" val="1161334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7DF1D-9ABE-C223-BDC6-0C913FDE4859}"/>
              </a:ext>
            </a:extLst>
          </p:cNvPr>
          <p:cNvSpPr>
            <a:spLocks noGrp="1"/>
          </p:cNvSpPr>
          <p:nvPr>
            <p:ph type="title"/>
          </p:nvPr>
        </p:nvSpPr>
        <p:spPr/>
        <p:txBody>
          <a:bodyPr/>
          <a:lstStyle/>
          <a:p>
            <a:r>
              <a:rPr lang="pt-PT" b="1" dirty="0" err="1"/>
              <a:t>Cont</a:t>
            </a:r>
            <a:r>
              <a:rPr lang="pt-PT" b="1" dirty="0"/>
              <a:t>…</a:t>
            </a:r>
            <a:endParaRPr lang="en-US" b="1" dirty="0"/>
          </a:p>
        </p:txBody>
      </p:sp>
      <p:sp>
        <p:nvSpPr>
          <p:cNvPr id="3" name="Content Placeholder 2">
            <a:extLst>
              <a:ext uri="{FF2B5EF4-FFF2-40B4-BE49-F238E27FC236}">
                <a16:creationId xmlns:a16="http://schemas.microsoft.com/office/drawing/2014/main" id="{878F4765-01A7-340E-A883-EC819C026832}"/>
              </a:ext>
            </a:extLst>
          </p:cNvPr>
          <p:cNvSpPr>
            <a:spLocks noGrp="1"/>
          </p:cNvSpPr>
          <p:nvPr>
            <p:ph idx="1"/>
          </p:nvPr>
        </p:nvSpPr>
        <p:spPr/>
        <p:txBody>
          <a:bodyPr/>
          <a:lstStyle/>
          <a:p>
            <a:pPr marL="0" indent="0">
              <a:buNone/>
            </a:pPr>
            <a:r>
              <a:rPr lang="pt-PT" dirty="0"/>
              <a:t>c </a:t>
            </a:r>
          </a:p>
          <a:p>
            <a:pPr marL="0" indent="0">
              <a:buNone/>
            </a:pPr>
            <a:r>
              <a:rPr lang="pt-PT" i="1" dirty="0">
                <a:solidFill>
                  <a:srgbClr val="FF0000"/>
                </a:solidFill>
              </a:rPr>
              <a:t>   </a:t>
            </a:r>
            <a:r>
              <a:rPr lang="pt-PT" i="1" dirty="0" err="1">
                <a:solidFill>
                  <a:srgbClr val="FF0000"/>
                </a:solidFill>
              </a:rPr>
              <a:t>int</a:t>
            </a:r>
            <a:r>
              <a:rPr lang="pt-PT" i="1" dirty="0">
                <a:solidFill>
                  <a:srgbClr val="FF0000"/>
                </a:solidFill>
              </a:rPr>
              <a:t> </a:t>
            </a:r>
            <a:r>
              <a:rPr lang="pt-PT" i="1" dirty="0" err="1">
                <a:solidFill>
                  <a:srgbClr val="FF0000"/>
                </a:solidFill>
              </a:rPr>
              <a:t>funcaoHash</a:t>
            </a:r>
            <a:r>
              <a:rPr lang="pt-PT" i="1" dirty="0">
                <a:solidFill>
                  <a:srgbClr val="FF0000"/>
                </a:solidFill>
              </a:rPr>
              <a:t>(</a:t>
            </a:r>
            <a:r>
              <a:rPr lang="pt-PT" i="1" dirty="0" err="1">
                <a:solidFill>
                  <a:srgbClr val="FF0000"/>
                </a:solidFill>
              </a:rPr>
              <a:t>int</a:t>
            </a:r>
            <a:r>
              <a:rPr lang="pt-PT" i="1" dirty="0">
                <a:solidFill>
                  <a:srgbClr val="FF0000"/>
                </a:solidFill>
              </a:rPr>
              <a:t> numero) {</a:t>
            </a:r>
          </a:p>
          <a:p>
            <a:pPr marL="0" indent="0">
              <a:buNone/>
            </a:pPr>
            <a:r>
              <a:rPr lang="pt-PT" i="1" dirty="0">
                <a:solidFill>
                  <a:srgbClr val="FF0000"/>
                </a:solidFill>
              </a:rPr>
              <a:t> 	</a:t>
            </a:r>
            <a:r>
              <a:rPr lang="pt-PT" i="1" dirty="0" err="1">
                <a:solidFill>
                  <a:srgbClr val="FF0000"/>
                </a:solidFill>
              </a:rPr>
              <a:t>return</a:t>
            </a:r>
            <a:r>
              <a:rPr lang="pt-PT" i="1" dirty="0">
                <a:solidFill>
                  <a:srgbClr val="FF0000"/>
                </a:solidFill>
              </a:rPr>
              <a:t> numero % TAM; // TAM = 10 </a:t>
            </a:r>
          </a:p>
          <a:p>
            <a:pPr marL="0" indent="0">
              <a:buNone/>
            </a:pPr>
            <a:r>
              <a:rPr lang="pt-PT" i="1" dirty="0">
                <a:solidFill>
                  <a:srgbClr val="FF0000"/>
                </a:solidFill>
              </a:rPr>
              <a:t>} </a:t>
            </a:r>
          </a:p>
          <a:p>
            <a:pPr marL="0" indent="0">
              <a:buNone/>
            </a:pPr>
            <a:r>
              <a:rPr lang="pt-PT" dirty="0"/>
              <a:t>É uma função simples baseada no módulo (resto da divisão). O índice é calculado como o resto da divisão do número do estudante pelo tamanho da tabela (10).</a:t>
            </a:r>
            <a:endParaRPr lang="en-US" dirty="0"/>
          </a:p>
        </p:txBody>
      </p:sp>
    </p:spTree>
    <p:extLst>
      <p:ext uri="{BB962C8B-B14F-4D97-AF65-F5344CB8AC3E}">
        <p14:creationId xmlns:p14="http://schemas.microsoft.com/office/powerpoint/2010/main" val="2891904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38636-CCFF-4E8A-A0E3-4A26497B42EE}"/>
              </a:ext>
            </a:extLst>
          </p:cNvPr>
          <p:cNvSpPr>
            <a:spLocks noGrp="1"/>
          </p:cNvSpPr>
          <p:nvPr>
            <p:ph type="title"/>
          </p:nvPr>
        </p:nvSpPr>
        <p:spPr/>
        <p:txBody>
          <a:bodyPr/>
          <a:lstStyle/>
          <a:p>
            <a:r>
              <a:rPr lang="en-US" b="1" dirty="0"/>
              <a:t>4.Colisões</a:t>
            </a:r>
          </a:p>
        </p:txBody>
      </p:sp>
      <p:sp>
        <p:nvSpPr>
          <p:cNvPr id="3" name="Content Placeholder 2">
            <a:extLst>
              <a:ext uri="{FF2B5EF4-FFF2-40B4-BE49-F238E27FC236}">
                <a16:creationId xmlns:a16="http://schemas.microsoft.com/office/drawing/2014/main" id="{E51B8E06-7BBE-4047-FA11-EAB68A696045}"/>
              </a:ext>
            </a:extLst>
          </p:cNvPr>
          <p:cNvSpPr>
            <a:spLocks noGrp="1"/>
          </p:cNvSpPr>
          <p:nvPr>
            <p:ph idx="1"/>
          </p:nvPr>
        </p:nvSpPr>
        <p:spPr/>
        <p:txBody>
          <a:bodyPr/>
          <a:lstStyle/>
          <a:p>
            <a:pPr marL="0" indent="0">
              <a:buNone/>
            </a:pPr>
            <a:r>
              <a:rPr lang="pt-PT" dirty="0"/>
              <a:t>Uma </a:t>
            </a:r>
            <a:r>
              <a:rPr lang="pt-PT" b="1" dirty="0"/>
              <a:t>colisão</a:t>
            </a:r>
            <a:r>
              <a:rPr lang="pt-PT" dirty="0"/>
              <a:t> ocorre quando duas chaves diferentes geram o mesmo índice.</a:t>
            </a:r>
          </a:p>
          <a:p>
            <a:r>
              <a:rPr lang="pt-PT" b="1" dirty="0"/>
              <a:t>Exemplo:</a:t>
            </a:r>
          </a:p>
          <a:p>
            <a:pPr>
              <a:buFont typeface="Arial" panose="020B0604020202020204" pitchFamily="34" charset="0"/>
              <a:buChar char="•"/>
            </a:pPr>
            <a:r>
              <a:rPr lang="pt-PT" dirty="0"/>
              <a:t>11 % 10 = 1 </a:t>
            </a:r>
          </a:p>
          <a:p>
            <a:pPr>
              <a:buFont typeface="Arial" panose="020B0604020202020204" pitchFamily="34" charset="0"/>
              <a:buChar char="•"/>
            </a:pPr>
            <a:r>
              <a:rPr lang="pt-PT" dirty="0"/>
              <a:t>21 % 10 = 1</a:t>
            </a:r>
          </a:p>
          <a:p>
            <a:pPr marL="0" indent="0">
              <a:buNone/>
            </a:pPr>
            <a:r>
              <a:rPr lang="pt-PT" dirty="0"/>
              <a:t>Ambos ocupam a mesma posição → ocorre colisão.</a:t>
            </a:r>
            <a:endParaRPr lang="en-US" dirty="0"/>
          </a:p>
        </p:txBody>
      </p:sp>
    </p:spTree>
    <p:extLst>
      <p:ext uri="{BB962C8B-B14F-4D97-AF65-F5344CB8AC3E}">
        <p14:creationId xmlns:p14="http://schemas.microsoft.com/office/powerpoint/2010/main" val="2649444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3853-6683-23B0-962B-C86FB8EABD8A}"/>
              </a:ext>
            </a:extLst>
          </p:cNvPr>
          <p:cNvSpPr>
            <a:spLocks noGrp="1"/>
          </p:cNvSpPr>
          <p:nvPr>
            <p:ph type="title"/>
          </p:nvPr>
        </p:nvSpPr>
        <p:spPr/>
        <p:txBody>
          <a:bodyPr/>
          <a:lstStyle/>
          <a:p>
            <a:r>
              <a:rPr lang="en-US" b="1" dirty="0"/>
              <a:t>4.1 </a:t>
            </a:r>
            <a:r>
              <a:rPr lang="en-US" b="1" dirty="0" err="1"/>
              <a:t>Tratamento</a:t>
            </a:r>
            <a:r>
              <a:rPr lang="en-US" b="1" dirty="0"/>
              <a:t> de </a:t>
            </a:r>
            <a:r>
              <a:rPr lang="en-US" b="1" dirty="0" err="1"/>
              <a:t>Colisões</a:t>
            </a:r>
            <a:r>
              <a:rPr lang="en-US" b="1" dirty="0"/>
              <a:t> </a:t>
            </a:r>
          </a:p>
        </p:txBody>
      </p:sp>
      <p:sp>
        <p:nvSpPr>
          <p:cNvPr id="3" name="Content Placeholder 2">
            <a:extLst>
              <a:ext uri="{FF2B5EF4-FFF2-40B4-BE49-F238E27FC236}">
                <a16:creationId xmlns:a16="http://schemas.microsoft.com/office/drawing/2014/main" id="{96248B87-4735-D057-EBEA-E924258BBDFB}"/>
              </a:ext>
            </a:extLst>
          </p:cNvPr>
          <p:cNvSpPr>
            <a:spLocks noGrp="1"/>
          </p:cNvSpPr>
          <p:nvPr>
            <p:ph idx="1"/>
          </p:nvPr>
        </p:nvSpPr>
        <p:spPr/>
        <p:txBody>
          <a:bodyPr/>
          <a:lstStyle/>
          <a:p>
            <a:pPr marL="0" indent="0">
              <a:buNone/>
            </a:pPr>
            <a:r>
              <a:rPr lang="pt-PT" dirty="0"/>
              <a:t>O sistema implementa duas técnicas de tratamento de colisões para comparação: </a:t>
            </a:r>
          </a:p>
          <a:p>
            <a:pPr marL="514350" indent="-514350">
              <a:buAutoNum type="alphaLcParenR"/>
            </a:pPr>
            <a:r>
              <a:rPr lang="pt-PT" b="1" dirty="0"/>
              <a:t>Encadeamento </a:t>
            </a:r>
            <a:r>
              <a:rPr lang="en-US" b="1" dirty="0"/>
              <a:t>(Chaining)</a:t>
            </a:r>
            <a:endParaRPr lang="pt-PT" b="1" dirty="0"/>
          </a:p>
          <a:p>
            <a:pPr marL="0" indent="0">
              <a:buNone/>
            </a:pPr>
            <a:r>
              <a:rPr lang="pt-PT" dirty="0"/>
              <a:t>• Cada posição da tabela contém um ponteiro para uma lista ligada • Quando ocorre colisão, o novo elemento é adicionado ao final da lista</a:t>
            </a:r>
          </a:p>
          <a:p>
            <a:pPr marL="0" indent="0">
              <a:buNone/>
            </a:pPr>
            <a:r>
              <a:rPr lang="pt-PT" dirty="0"/>
              <a:t>• Vantagem: Não há limite de elementos por índice </a:t>
            </a:r>
          </a:p>
          <a:p>
            <a:pPr marL="0" indent="0">
              <a:buNone/>
            </a:pPr>
            <a:r>
              <a:rPr lang="pt-PT" dirty="0"/>
              <a:t>• Desvantagem: Necessidade de alocação dinâmica de memória, ou seja, </a:t>
            </a:r>
            <a:r>
              <a:rPr lang="en-US" dirty="0" err="1"/>
              <a:t>usa</a:t>
            </a:r>
            <a:r>
              <a:rPr lang="en-US" dirty="0"/>
              <a:t> </a:t>
            </a:r>
            <a:r>
              <a:rPr lang="en-US" dirty="0" err="1"/>
              <a:t>mais</a:t>
            </a:r>
            <a:r>
              <a:rPr lang="en-US" dirty="0"/>
              <a:t> </a:t>
            </a:r>
            <a:r>
              <a:rPr lang="en-US" dirty="0" err="1"/>
              <a:t>memória</a:t>
            </a:r>
            <a:endParaRPr lang="en-US" dirty="0"/>
          </a:p>
        </p:txBody>
      </p:sp>
    </p:spTree>
    <p:extLst>
      <p:ext uri="{BB962C8B-B14F-4D97-AF65-F5344CB8AC3E}">
        <p14:creationId xmlns:p14="http://schemas.microsoft.com/office/powerpoint/2010/main" val="4126436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7DF14-13FC-C7FF-7114-FA5EF8B8BF89}"/>
              </a:ext>
            </a:extLst>
          </p:cNvPr>
          <p:cNvSpPr>
            <a:spLocks noGrp="1"/>
          </p:cNvSpPr>
          <p:nvPr>
            <p:ph type="title"/>
          </p:nvPr>
        </p:nvSpPr>
        <p:spPr/>
        <p:txBody>
          <a:bodyPr/>
          <a:lstStyle/>
          <a:p>
            <a:r>
              <a:rPr lang="en-US" b="1" dirty="0"/>
              <a:t>b) </a:t>
            </a:r>
            <a:r>
              <a:rPr lang="en-US" b="1" dirty="0" err="1"/>
              <a:t>Sondagem</a:t>
            </a:r>
            <a:r>
              <a:rPr lang="en-US" b="1" dirty="0"/>
              <a:t> Linear (Linear Probing) </a:t>
            </a:r>
          </a:p>
        </p:txBody>
      </p:sp>
      <p:sp>
        <p:nvSpPr>
          <p:cNvPr id="3" name="Content Placeholder 2">
            <a:extLst>
              <a:ext uri="{FF2B5EF4-FFF2-40B4-BE49-F238E27FC236}">
                <a16:creationId xmlns:a16="http://schemas.microsoft.com/office/drawing/2014/main" id="{E8164307-8707-3212-DE75-25AAA8010003}"/>
              </a:ext>
            </a:extLst>
          </p:cNvPr>
          <p:cNvSpPr>
            <a:spLocks noGrp="1"/>
          </p:cNvSpPr>
          <p:nvPr>
            <p:ph idx="1"/>
          </p:nvPr>
        </p:nvSpPr>
        <p:spPr/>
        <p:txBody>
          <a:bodyPr>
            <a:normAutofit lnSpcReduction="10000"/>
          </a:bodyPr>
          <a:lstStyle/>
          <a:p>
            <a:pPr marL="0" indent="0">
              <a:buNone/>
            </a:pPr>
            <a:r>
              <a:rPr lang="pt-PT" dirty="0"/>
              <a:t>• Quando ocorre colisão, procura-se a próxima posição livre (índice + 1, +2, etc.) </a:t>
            </a:r>
          </a:p>
          <a:p>
            <a:r>
              <a:rPr lang="pt-PT" b="1" dirty="0"/>
              <a:t>Exemplo:</a:t>
            </a:r>
            <a:br>
              <a:rPr lang="pt-PT" dirty="0"/>
            </a:br>
            <a:r>
              <a:rPr lang="pt-PT" dirty="0"/>
              <a:t>Se índice 1 está ocupado:</a:t>
            </a:r>
          </a:p>
          <a:p>
            <a:pPr>
              <a:buFont typeface="Arial" panose="020B0604020202020204" pitchFamily="34" charset="0"/>
              <a:buChar char="•"/>
            </a:pPr>
            <a:r>
              <a:rPr lang="pt-PT" dirty="0"/>
              <a:t>Tenta índice 2 </a:t>
            </a:r>
          </a:p>
          <a:p>
            <a:pPr>
              <a:buFont typeface="Arial" panose="020B0604020202020204" pitchFamily="34" charset="0"/>
              <a:buChar char="•"/>
            </a:pPr>
            <a:r>
              <a:rPr lang="pt-PT" dirty="0"/>
              <a:t>Depois 3, e assim por diante</a:t>
            </a:r>
          </a:p>
          <a:p>
            <a:pPr marL="0" indent="0">
              <a:buNone/>
            </a:pPr>
            <a:r>
              <a:rPr lang="pt-PT" dirty="0"/>
              <a:t>• </a:t>
            </a:r>
            <a:r>
              <a:rPr lang="pt-PT" b="1" dirty="0"/>
              <a:t>Vantagem: </a:t>
            </a:r>
            <a:r>
              <a:rPr lang="pt-PT" dirty="0"/>
              <a:t>Simples de implementar, memória contígua, não usa </a:t>
            </a:r>
            <a:r>
              <a:rPr lang="en-US" dirty="0" err="1"/>
              <a:t>memória</a:t>
            </a:r>
            <a:r>
              <a:rPr lang="pt-PT" dirty="0"/>
              <a:t> extra</a:t>
            </a:r>
          </a:p>
          <a:p>
            <a:pPr marL="0" indent="0">
              <a:buNone/>
            </a:pPr>
            <a:r>
              <a:rPr lang="pt-PT" dirty="0"/>
              <a:t>• </a:t>
            </a:r>
            <a:r>
              <a:rPr lang="pt-PT" b="1" dirty="0"/>
              <a:t>Desvantagem: </a:t>
            </a:r>
            <a:r>
              <a:rPr lang="pt-PT" dirty="0"/>
              <a:t>Agrupamento primário (</a:t>
            </a:r>
            <a:r>
              <a:rPr lang="pt-PT" dirty="0" err="1"/>
              <a:t>clustering</a:t>
            </a:r>
            <a:r>
              <a:rPr lang="pt-PT" dirty="0"/>
              <a:t>) - tendência a formar blocos ocupados</a:t>
            </a:r>
            <a:endParaRPr lang="en-US" dirty="0"/>
          </a:p>
        </p:txBody>
      </p:sp>
    </p:spTree>
    <p:extLst>
      <p:ext uri="{BB962C8B-B14F-4D97-AF65-F5344CB8AC3E}">
        <p14:creationId xmlns:p14="http://schemas.microsoft.com/office/powerpoint/2010/main" val="373117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3EF04-9D01-EDB2-0399-BF83FA21345B}"/>
              </a:ext>
            </a:extLst>
          </p:cNvPr>
          <p:cNvSpPr>
            <a:spLocks noGrp="1"/>
          </p:cNvSpPr>
          <p:nvPr>
            <p:ph type="title"/>
          </p:nvPr>
        </p:nvSpPr>
        <p:spPr/>
        <p:txBody>
          <a:bodyPr/>
          <a:lstStyle/>
          <a:p>
            <a:r>
              <a:rPr lang="en-US" b="1" dirty="0"/>
              <a:t>5. </a:t>
            </a:r>
            <a:r>
              <a:rPr lang="en-US" b="1" dirty="0" err="1"/>
              <a:t>Persistência</a:t>
            </a:r>
            <a:r>
              <a:rPr lang="en-US" b="1" dirty="0"/>
              <a:t> </a:t>
            </a:r>
            <a:r>
              <a:rPr lang="en-US" b="1" dirty="0" err="1"/>
              <a:t>em</a:t>
            </a:r>
            <a:r>
              <a:rPr lang="en-US" b="1" dirty="0"/>
              <a:t> </a:t>
            </a:r>
            <a:r>
              <a:rPr lang="en-US" b="1" dirty="0" err="1"/>
              <a:t>Arquivo</a:t>
            </a:r>
            <a:r>
              <a:rPr lang="en-US" b="1" dirty="0"/>
              <a:t> </a:t>
            </a:r>
          </a:p>
        </p:txBody>
      </p:sp>
      <p:sp>
        <p:nvSpPr>
          <p:cNvPr id="3" name="Content Placeholder 2">
            <a:extLst>
              <a:ext uri="{FF2B5EF4-FFF2-40B4-BE49-F238E27FC236}">
                <a16:creationId xmlns:a16="http://schemas.microsoft.com/office/drawing/2014/main" id="{A3A78982-7342-B803-DBBF-BB643460E7C2}"/>
              </a:ext>
            </a:extLst>
          </p:cNvPr>
          <p:cNvSpPr>
            <a:spLocks noGrp="1"/>
          </p:cNvSpPr>
          <p:nvPr>
            <p:ph idx="1"/>
          </p:nvPr>
        </p:nvSpPr>
        <p:spPr/>
        <p:txBody>
          <a:bodyPr/>
          <a:lstStyle/>
          <a:p>
            <a:pPr marL="0" indent="0">
              <a:buNone/>
            </a:pPr>
            <a:r>
              <a:rPr lang="pt-PT" dirty="0"/>
              <a:t>Os dados são salvos em dois arquivos texto: </a:t>
            </a:r>
          </a:p>
          <a:p>
            <a:pPr marL="0" indent="0">
              <a:buNone/>
            </a:pPr>
            <a:r>
              <a:rPr lang="pt-PT" dirty="0"/>
              <a:t>• estudantes_encadeamento.txt: dados da tabela com encadeamento </a:t>
            </a:r>
          </a:p>
          <a:p>
            <a:pPr marL="0" indent="0">
              <a:buNone/>
            </a:pPr>
            <a:r>
              <a:rPr lang="pt-PT" dirty="0"/>
              <a:t>• estudantes_linear.txt: dados da tabela com sondagem linear</a:t>
            </a:r>
          </a:p>
          <a:p>
            <a:pPr marL="0" indent="0">
              <a:buNone/>
            </a:pPr>
            <a:endParaRPr lang="pt-PT" dirty="0"/>
          </a:p>
          <a:p>
            <a:pPr marL="0" indent="0">
              <a:buNone/>
            </a:pPr>
            <a:r>
              <a:rPr lang="pt-PT" dirty="0"/>
              <a:t> Formato: </a:t>
            </a:r>
            <a:r>
              <a:rPr lang="pt-PT" dirty="0" err="1"/>
              <a:t>índice:numero_str:numero_int:nome:curso</a:t>
            </a:r>
            <a:endParaRPr lang="en-US" dirty="0"/>
          </a:p>
        </p:txBody>
      </p:sp>
    </p:spTree>
    <p:extLst>
      <p:ext uri="{BB962C8B-B14F-4D97-AF65-F5344CB8AC3E}">
        <p14:creationId xmlns:p14="http://schemas.microsoft.com/office/powerpoint/2010/main" val="2997144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DB05B-0319-0E3A-837C-F5E68FE9651B}"/>
              </a:ext>
            </a:extLst>
          </p:cNvPr>
          <p:cNvSpPr>
            <a:spLocks noGrp="1"/>
          </p:cNvSpPr>
          <p:nvPr>
            <p:ph type="title"/>
          </p:nvPr>
        </p:nvSpPr>
        <p:spPr/>
        <p:txBody>
          <a:bodyPr/>
          <a:lstStyle/>
          <a:p>
            <a:r>
              <a:rPr lang="en-US" dirty="0" err="1"/>
              <a:t>Exemplo</a:t>
            </a:r>
            <a:r>
              <a:rPr lang="en-US" dirty="0"/>
              <a:t> </a:t>
            </a:r>
            <a:r>
              <a:rPr lang="en-US" dirty="0" err="1"/>
              <a:t>pr</a:t>
            </a:r>
            <a:r>
              <a:rPr lang="en-US" b="0" i="0" dirty="0" err="1">
                <a:solidFill>
                  <a:srgbClr val="0A0A0A"/>
                </a:solidFill>
                <a:effectLst/>
                <a:latin typeface="Google Sans"/>
              </a:rPr>
              <a:t>á</a:t>
            </a:r>
            <a:r>
              <a:rPr lang="en-US" dirty="0" err="1"/>
              <a:t>tico</a:t>
            </a:r>
            <a:r>
              <a:rPr lang="en-US" dirty="0"/>
              <a:t> </a:t>
            </a:r>
          </a:p>
        </p:txBody>
      </p:sp>
      <p:sp>
        <p:nvSpPr>
          <p:cNvPr id="3" name="Content Placeholder 2">
            <a:extLst>
              <a:ext uri="{FF2B5EF4-FFF2-40B4-BE49-F238E27FC236}">
                <a16:creationId xmlns:a16="http://schemas.microsoft.com/office/drawing/2014/main" id="{F1C2BDBC-0691-86AF-C0D1-6AF00EDB7E65}"/>
              </a:ext>
            </a:extLst>
          </p:cNvPr>
          <p:cNvSpPr>
            <a:spLocks noGrp="1"/>
          </p:cNvSpPr>
          <p:nvPr>
            <p:ph idx="1"/>
          </p:nvPr>
        </p:nvSpPr>
        <p:spPr/>
        <p:txBody>
          <a:bodyPr/>
          <a:lstStyle/>
          <a:p>
            <a:pPr marL="0" indent="0">
              <a:buNone/>
            </a:pPr>
            <a:r>
              <a:rPr lang="pt-PT" dirty="0"/>
              <a:t>Como seria armazenado a seguinte informação</a:t>
            </a:r>
            <a:r>
              <a:rPr lang="en-US" dirty="0"/>
              <a:t>:</a:t>
            </a:r>
          </a:p>
          <a:p>
            <a:pPr marL="0" indent="0">
              <a:buNone/>
            </a:pPr>
            <a:r>
              <a:rPr lang="en-US" dirty="0" err="1"/>
              <a:t>N</a:t>
            </a:r>
            <a:r>
              <a:rPr lang="en-US" b="0" i="0" dirty="0" err="1">
                <a:solidFill>
                  <a:srgbClr val="0A0A0A"/>
                </a:solidFill>
                <a:effectLst/>
                <a:latin typeface="Google Sans"/>
              </a:rPr>
              <a:t>ú</a:t>
            </a:r>
            <a:r>
              <a:rPr lang="en-US" dirty="0" err="1"/>
              <a:t>meros</a:t>
            </a:r>
            <a:r>
              <a:rPr lang="en-US" dirty="0"/>
              <a:t>: 10; 21;11.</a:t>
            </a:r>
          </a:p>
          <a:p>
            <a:pPr marL="0" indent="0">
              <a:buNone/>
            </a:pPr>
            <a:r>
              <a:rPr lang="en-US" dirty="0"/>
              <a:t>10:10=1</a:t>
            </a:r>
          </a:p>
          <a:p>
            <a:pPr marL="0" indent="0">
              <a:buNone/>
            </a:pPr>
            <a:r>
              <a:rPr lang="en-US" dirty="0"/>
              <a:t>1x10=10</a:t>
            </a:r>
          </a:p>
          <a:p>
            <a:pPr marL="0" indent="0">
              <a:buNone/>
            </a:pPr>
            <a:r>
              <a:rPr lang="en-US" dirty="0"/>
              <a:t>10-10=0</a:t>
            </a:r>
          </a:p>
          <a:p>
            <a:pPr marL="0" indent="0">
              <a:buNone/>
            </a:pPr>
            <a:r>
              <a:rPr lang="en-US" i="1" dirty="0"/>
              <a:t>Ou </a:t>
            </a:r>
            <a:r>
              <a:rPr lang="en-US" i="1" dirty="0" err="1"/>
              <a:t>seja</a:t>
            </a:r>
            <a:r>
              <a:rPr lang="en-US" i="1" dirty="0"/>
              <a:t>, o resto da </a:t>
            </a:r>
            <a:r>
              <a:rPr lang="en-US" i="1" dirty="0" err="1"/>
              <a:t>divisão</a:t>
            </a:r>
            <a:r>
              <a:rPr lang="en-US" i="1" dirty="0"/>
              <a:t> </a:t>
            </a:r>
            <a:r>
              <a:rPr lang="en-US" i="1" dirty="0" err="1"/>
              <a:t>por</a:t>
            </a:r>
            <a:r>
              <a:rPr lang="en-US" i="1" dirty="0"/>
              <a:t> 10.</a:t>
            </a:r>
          </a:p>
          <a:p>
            <a:pPr marL="0" indent="0">
              <a:buNone/>
            </a:pPr>
            <a:r>
              <a:rPr lang="en-US" i="1" dirty="0"/>
              <a:t>Logo o </a:t>
            </a:r>
            <a:r>
              <a:rPr lang="en-US" i="1" dirty="0" err="1"/>
              <a:t>n</a:t>
            </a:r>
            <a:r>
              <a:rPr lang="en-US" b="0" i="1" dirty="0" err="1">
                <a:solidFill>
                  <a:srgbClr val="0A0A0A"/>
                </a:solidFill>
                <a:effectLst/>
                <a:latin typeface="Google Sans"/>
              </a:rPr>
              <a:t>ú</a:t>
            </a:r>
            <a:r>
              <a:rPr lang="en-US" i="1" dirty="0" err="1"/>
              <a:t>mero</a:t>
            </a:r>
            <a:r>
              <a:rPr lang="en-US" i="1" dirty="0"/>
              <a:t> 10 seria </a:t>
            </a:r>
            <a:r>
              <a:rPr lang="en-US" i="1" dirty="0" err="1"/>
              <a:t>armazenado</a:t>
            </a:r>
            <a:r>
              <a:rPr lang="en-US" i="1" dirty="0"/>
              <a:t> </a:t>
            </a:r>
            <a:r>
              <a:rPr lang="en-US" i="1" dirty="0" err="1"/>
              <a:t>em</a:t>
            </a:r>
            <a:r>
              <a:rPr lang="en-US" i="1" dirty="0"/>
              <a:t> </a:t>
            </a:r>
            <a:r>
              <a:rPr lang="en-US" i="1" dirty="0" err="1"/>
              <a:t>uma</a:t>
            </a:r>
            <a:r>
              <a:rPr lang="en-US" i="1" dirty="0"/>
              <a:t> </a:t>
            </a:r>
            <a:r>
              <a:rPr lang="en-US" i="1" dirty="0" err="1"/>
              <a:t>tabela</a:t>
            </a:r>
            <a:r>
              <a:rPr lang="en-US" i="1" dirty="0"/>
              <a:t> hash com o </a:t>
            </a:r>
            <a:r>
              <a:rPr lang="en-US" i="1" dirty="0" err="1"/>
              <a:t>indice</a:t>
            </a:r>
            <a:r>
              <a:rPr lang="en-US" i="1" dirty="0"/>
              <a:t> 0.</a:t>
            </a:r>
          </a:p>
        </p:txBody>
      </p:sp>
    </p:spTree>
    <p:extLst>
      <p:ext uri="{BB962C8B-B14F-4D97-AF65-F5344CB8AC3E}">
        <p14:creationId xmlns:p14="http://schemas.microsoft.com/office/powerpoint/2010/main" val="1995749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90568-00E8-C172-6917-926C90BD2573}"/>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9741F161-82C0-1B0D-9AE2-600FD0F54772}"/>
              </a:ext>
            </a:extLst>
          </p:cNvPr>
          <p:cNvSpPr>
            <a:spLocks noGrp="1"/>
          </p:cNvSpPr>
          <p:nvPr>
            <p:ph idx="1"/>
          </p:nvPr>
        </p:nvSpPr>
        <p:spPr/>
        <p:txBody>
          <a:bodyPr/>
          <a:lstStyle/>
          <a:p>
            <a:pPr marL="0" indent="0">
              <a:buNone/>
            </a:pPr>
            <a:r>
              <a:rPr lang="en-US" dirty="0"/>
              <a:t>21:10=2</a:t>
            </a:r>
          </a:p>
          <a:p>
            <a:pPr marL="0" indent="0">
              <a:buNone/>
            </a:pPr>
            <a:r>
              <a:rPr lang="en-US" dirty="0"/>
              <a:t>2x10=20</a:t>
            </a:r>
          </a:p>
          <a:p>
            <a:pPr marL="0" indent="0">
              <a:buNone/>
            </a:pPr>
            <a:r>
              <a:rPr lang="en-US" dirty="0"/>
              <a:t>21-20=1</a:t>
            </a:r>
          </a:p>
          <a:p>
            <a:pPr marL="0" indent="0">
              <a:buNone/>
            </a:pPr>
            <a:r>
              <a:rPr lang="en-US" i="1" dirty="0"/>
              <a:t>Ou </a:t>
            </a:r>
            <a:r>
              <a:rPr lang="en-US" i="1" dirty="0" err="1"/>
              <a:t>seja</a:t>
            </a:r>
            <a:r>
              <a:rPr lang="en-US" i="1" dirty="0"/>
              <a:t>, o resto da </a:t>
            </a:r>
            <a:r>
              <a:rPr lang="en-US" i="1" dirty="0" err="1"/>
              <a:t>divisão</a:t>
            </a:r>
            <a:r>
              <a:rPr lang="en-US" i="1" dirty="0"/>
              <a:t> </a:t>
            </a:r>
            <a:r>
              <a:rPr lang="en-US" i="1" dirty="0" err="1"/>
              <a:t>por</a:t>
            </a:r>
            <a:r>
              <a:rPr lang="en-US" i="1" dirty="0"/>
              <a:t> 10.</a:t>
            </a:r>
          </a:p>
          <a:p>
            <a:pPr marL="0" indent="0">
              <a:buNone/>
            </a:pPr>
            <a:r>
              <a:rPr lang="en-US" i="1" dirty="0"/>
              <a:t>Logo o </a:t>
            </a:r>
            <a:r>
              <a:rPr lang="en-US" i="1" dirty="0" err="1"/>
              <a:t>n</a:t>
            </a:r>
            <a:r>
              <a:rPr lang="en-US" b="0" i="1" dirty="0" err="1">
                <a:solidFill>
                  <a:srgbClr val="0A0A0A"/>
                </a:solidFill>
                <a:effectLst/>
                <a:latin typeface="Google Sans"/>
              </a:rPr>
              <a:t>ú</a:t>
            </a:r>
            <a:r>
              <a:rPr lang="en-US" i="1" dirty="0" err="1"/>
              <a:t>mero</a:t>
            </a:r>
            <a:r>
              <a:rPr lang="en-US" i="1" dirty="0"/>
              <a:t> 21 seria </a:t>
            </a:r>
            <a:r>
              <a:rPr lang="en-US" i="1" dirty="0" err="1"/>
              <a:t>armazenado</a:t>
            </a:r>
            <a:r>
              <a:rPr lang="en-US" i="1" dirty="0"/>
              <a:t> </a:t>
            </a:r>
            <a:r>
              <a:rPr lang="en-US" i="1" dirty="0" err="1"/>
              <a:t>em</a:t>
            </a:r>
            <a:r>
              <a:rPr lang="en-US" i="1" dirty="0"/>
              <a:t> </a:t>
            </a:r>
            <a:r>
              <a:rPr lang="en-US" i="1" dirty="0" err="1"/>
              <a:t>uma</a:t>
            </a:r>
            <a:r>
              <a:rPr lang="en-US" i="1" dirty="0"/>
              <a:t> </a:t>
            </a:r>
            <a:r>
              <a:rPr lang="en-US" i="1" dirty="0" err="1"/>
              <a:t>tabela</a:t>
            </a:r>
            <a:r>
              <a:rPr lang="en-US" i="1" dirty="0"/>
              <a:t> hash com o </a:t>
            </a:r>
            <a:r>
              <a:rPr lang="en-US" i="1" dirty="0" err="1"/>
              <a:t>indice</a:t>
            </a:r>
            <a:r>
              <a:rPr lang="en-US" i="1" dirty="0"/>
              <a:t> 1.</a:t>
            </a:r>
          </a:p>
        </p:txBody>
      </p:sp>
    </p:spTree>
    <p:extLst>
      <p:ext uri="{BB962C8B-B14F-4D97-AF65-F5344CB8AC3E}">
        <p14:creationId xmlns:p14="http://schemas.microsoft.com/office/powerpoint/2010/main" val="3102789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8A3AA-8A83-E112-5880-D2FFFDC6A228}"/>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F391C63D-9875-D304-F71B-F7DFA67C653B}"/>
              </a:ext>
            </a:extLst>
          </p:cNvPr>
          <p:cNvSpPr>
            <a:spLocks noGrp="1"/>
          </p:cNvSpPr>
          <p:nvPr>
            <p:ph idx="1"/>
          </p:nvPr>
        </p:nvSpPr>
        <p:spPr/>
        <p:txBody>
          <a:bodyPr>
            <a:normAutofit fontScale="92500"/>
          </a:bodyPr>
          <a:lstStyle/>
          <a:p>
            <a:pPr marL="0" indent="0">
              <a:buNone/>
            </a:pPr>
            <a:r>
              <a:rPr lang="en-US" dirty="0"/>
              <a:t>11:10=1</a:t>
            </a:r>
          </a:p>
          <a:p>
            <a:pPr marL="0" indent="0">
              <a:buNone/>
            </a:pPr>
            <a:r>
              <a:rPr lang="en-US" dirty="0"/>
              <a:t>1x10=10</a:t>
            </a:r>
          </a:p>
          <a:p>
            <a:pPr marL="0" indent="0">
              <a:buNone/>
            </a:pPr>
            <a:r>
              <a:rPr lang="en-US" dirty="0"/>
              <a:t>11-10=1</a:t>
            </a:r>
          </a:p>
          <a:p>
            <a:pPr marL="0" indent="0">
              <a:buNone/>
            </a:pPr>
            <a:r>
              <a:rPr lang="pt-PT" sz="2600" i="1" dirty="0"/>
              <a:t>Ou seja, o resto da divisão por 10.</a:t>
            </a:r>
            <a:br>
              <a:rPr lang="pt-PT" sz="2600" i="1" dirty="0"/>
            </a:br>
            <a:r>
              <a:rPr lang="pt-PT" sz="2600" i="1" dirty="0"/>
              <a:t>Logo, o número 11 seria armazenado numa tabela </a:t>
            </a:r>
            <a:r>
              <a:rPr lang="pt-PT" sz="2600" i="1" dirty="0" err="1"/>
              <a:t>hash</a:t>
            </a:r>
            <a:r>
              <a:rPr lang="pt-PT" sz="2600" i="1" dirty="0"/>
              <a:t> com o índice 1, mas sofreria uma colisão com o número 21, que foi armazenado com o índice 1 também. Logo, terá de ser usada a técnica de lista ligada para armazenar essa colisão em encadeamento. Em sondagem linear, ele irá armazenar no índice mais próximo que se encontrar vazio, que nesse caso, como sabemos, 10 terá o índice 0, 21 o índice 1, e 11 teria o índice armazenado 1, mas como houve colisão ele irá para o índice 2 por estar vazio e mais próximo.</a:t>
            </a:r>
            <a:endParaRPr lang="en-US" sz="2600" i="1" dirty="0"/>
          </a:p>
        </p:txBody>
      </p:sp>
    </p:spTree>
    <p:extLst>
      <p:ext uri="{BB962C8B-B14F-4D97-AF65-F5344CB8AC3E}">
        <p14:creationId xmlns:p14="http://schemas.microsoft.com/office/powerpoint/2010/main" val="2640799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36253-6775-D3B6-2184-6B689E36160E}"/>
              </a:ext>
            </a:extLst>
          </p:cNvPr>
          <p:cNvSpPr>
            <a:spLocks noGrp="1"/>
          </p:cNvSpPr>
          <p:nvPr>
            <p:ph type="title"/>
          </p:nvPr>
        </p:nvSpPr>
        <p:spPr/>
        <p:txBody>
          <a:bodyPr/>
          <a:lstStyle/>
          <a:p>
            <a:r>
              <a:rPr lang="pt-PT" b="1" dirty="0"/>
              <a:t>6. Aplicações das Tabelas </a:t>
            </a:r>
            <a:r>
              <a:rPr lang="pt-PT" b="1" dirty="0" err="1"/>
              <a:t>Hash</a:t>
            </a:r>
            <a:endParaRPr lang="en-US" dirty="0"/>
          </a:p>
        </p:txBody>
      </p:sp>
      <p:sp>
        <p:nvSpPr>
          <p:cNvPr id="3" name="Content Placeholder 2">
            <a:extLst>
              <a:ext uri="{FF2B5EF4-FFF2-40B4-BE49-F238E27FC236}">
                <a16:creationId xmlns:a16="http://schemas.microsoft.com/office/drawing/2014/main" id="{FF69ED6A-A535-DDC8-8F43-5FD16AF2A765}"/>
              </a:ext>
            </a:extLst>
          </p:cNvPr>
          <p:cNvSpPr>
            <a:spLocks noGrp="1"/>
          </p:cNvSpPr>
          <p:nvPr>
            <p:ph idx="1"/>
          </p:nvPr>
        </p:nvSpPr>
        <p:spPr/>
        <p:txBody>
          <a:bodyPr/>
          <a:lstStyle/>
          <a:p>
            <a:pPr marL="0" indent="0">
              <a:buNone/>
            </a:pPr>
            <a:r>
              <a:rPr lang="pt-PT" dirty="0"/>
              <a:t>As tabelas </a:t>
            </a:r>
            <a:r>
              <a:rPr lang="pt-PT" dirty="0" err="1"/>
              <a:t>hash</a:t>
            </a:r>
            <a:r>
              <a:rPr lang="pt-PT" dirty="0"/>
              <a:t> são usadas em diversas áreas, tais como:</a:t>
            </a:r>
          </a:p>
          <a:p>
            <a:pPr>
              <a:buFont typeface="Arial" panose="020B0604020202020204" pitchFamily="34" charset="0"/>
              <a:buChar char="•"/>
            </a:pPr>
            <a:r>
              <a:rPr lang="pt-PT" dirty="0"/>
              <a:t>Sistemas de login (armazenamento de usuários) </a:t>
            </a:r>
          </a:p>
          <a:p>
            <a:pPr>
              <a:buFont typeface="Arial" panose="020B0604020202020204" pitchFamily="34" charset="0"/>
              <a:buChar char="•"/>
            </a:pPr>
            <a:r>
              <a:rPr lang="pt-PT" dirty="0"/>
              <a:t>Bancos de dados </a:t>
            </a:r>
          </a:p>
          <a:p>
            <a:pPr>
              <a:buFont typeface="Arial" panose="020B0604020202020204" pitchFamily="34" charset="0"/>
              <a:buChar char="•"/>
            </a:pPr>
            <a:r>
              <a:rPr lang="pt-PT" dirty="0"/>
              <a:t>Compiladores </a:t>
            </a:r>
          </a:p>
          <a:p>
            <a:pPr>
              <a:buFont typeface="Arial" panose="020B0604020202020204" pitchFamily="34" charset="0"/>
              <a:buChar char="•"/>
            </a:pPr>
            <a:r>
              <a:rPr lang="pt-PT" dirty="0"/>
              <a:t>Cache de sistemas</a:t>
            </a:r>
          </a:p>
          <a:p>
            <a:pPr marL="0" indent="0">
              <a:buNone/>
            </a:pPr>
            <a:r>
              <a:rPr lang="en-US" dirty="0"/>
              <a:t>Em </a:t>
            </a:r>
            <a:r>
              <a:rPr lang="en-US" dirty="0" err="1"/>
              <a:t>resumo</a:t>
            </a:r>
            <a:r>
              <a:rPr lang="en-US" dirty="0"/>
              <a:t> </a:t>
            </a:r>
            <a:r>
              <a:rPr lang="en-US" dirty="0" err="1"/>
              <a:t>ele</a:t>
            </a:r>
            <a:r>
              <a:rPr lang="en-US" dirty="0"/>
              <a:t> </a:t>
            </a:r>
            <a:r>
              <a:rPr lang="en-US" dirty="0" err="1"/>
              <a:t>armazena</a:t>
            </a:r>
            <a:r>
              <a:rPr lang="en-US" dirty="0"/>
              <a:t> dados e </a:t>
            </a:r>
            <a:r>
              <a:rPr lang="en-US" dirty="0" err="1"/>
              <a:t>acessa</a:t>
            </a:r>
            <a:r>
              <a:rPr lang="en-US" dirty="0"/>
              <a:t> </a:t>
            </a:r>
            <a:r>
              <a:rPr lang="en-US" dirty="0" err="1"/>
              <a:t>facilmente</a:t>
            </a:r>
            <a:r>
              <a:rPr lang="en-US" dirty="0"/>
              <a:t> dados.</a:t>
            </a:r>
          </a:p>
        </p:txBody>
      </p:sp>
    </p:spTree>
    <p:extLst>
      <p:ext uri="{BB962C8B-B14F-4D97-AF65-F5344CB8AC3E}">
        <p14:creationId xmlns:p14="http://schemas.microsoft.com/office/powerpoint/2010/main" val="1840190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3458</TotalTime>
  <Words>1100</Words>
  <Application>Microsoft Office PowerPoint</Application>
  <PresentationFormat>Widescreen</PresentationFormat>
  <Paragraphs>113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Google Sans</vt:lpstr>
      <vt:lpstr>Mona Sans VF</vt:lpstr>
      <vt:lpstr>Office Theme</vt:lpstr>
      <vt:lpstr>Implementação de Tabela Hash</vt:lpstr>
      <vt:lpstr>Descrição </vt:lpstr>
      <vt:lpstr>Funcionalidades </vt:lpstr>
      <vt:lpstr>1. INTRODUÇÃO AO PROBLEMA</vt:lpstr>
      <vt:lpstr>Cont…</vt:lpstr>
      <vt:lpstr>2. EXPLICAÇÃO DO ALGORITMO OU ESTRUTURA</vt:lpstr>
      <vt:lpstr>Cont…</vt:lpstr>
      <vt:lpstr>2.2Vantagens e Desvantagens.</vt:lpstr>
      <vt:lpstr>Cont…</vt:lpstr>
      <vt:lpstr>3.Função Hash</vt:lpstr>
      <vt:lpstr>Cont…</vt:lpstr>
      <vt:lpstr>4.Colisões</vt:lpstr>
      <vt:lpstr>4.1 Tratamento de Colisões </vt:lpstr>
      <vt:lpstr>b) Sondagem Linear (Linear Probing) </vt:lpstr>
      <vt:lpstr>5. Persistência em Arquivo </vt:lpstr>
      <vt:lpstr>Exemplo prático </vt:lpstr>
      <vt:lpstr>Cont…</vt:lpstr>
      <vt:lpstr>Cont…</vt:lpstr>
      <vt:lpstr>6. Aplicações das Tabelas Hash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3</cp:revision>
  <dcterms:created xsi:type="dcterms:W3CDTF">2026-03-29T18:21:43Z</dcterms:created>
  <dcterms:modified xsi:type="dcterms:W3CDTF">2026-04-03T03:13:51Z</dcterms:modified>
</cp:coreProperties>
</file>