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26BC-468D-8429-BFB1-F30D50C80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D806F-129A-C7A4-39F6-F0E1FCF83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4ADE5-89D5-3D89-B32C-1173A1F8A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8EEA-4669-42BB-9F97-2287C2F23AF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342E2-4DD3-3FB4-61E8-4CED798C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52C86-F59B-9872-3A5E-1C405024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A034-3A00-4D96-AC7F-AB6AA842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9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71DD0-776F-4EBB-F509-BB6AAF4C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7BA79-80C0-E6EC-1C34-75DF61F1A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3265F-3574-ED05-D6C7-E67E3F989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8EEA-4669-42BB-9F97-2287C2F23AF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CE46F-B350-8D75-F211-0372B63F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FA7E0-CEB8-2616-4A3A-73527D387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A034-3A00-4D96-AC7F-AB6AA842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7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3AE3C-51EC-1645-78DD-398BA9FD3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3CF1E-3F02-791B-99E2-09159493C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FFBDB-97FE-5574-A146-774EE00B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8EEA-4669-42BB-9F97-2287C2F23AF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D6B92-638C-DF42-5442-6517A383A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1C6A2-4534-C8F7-77E6-1279EBA5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A034-3A00-4D96-AC7F-AB6AA842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6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E7F2C-A980-0DF2-AF40-6F3BDD70F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E5527-EE5A-766E-CE89-53CAD9E13B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7EA9A-F156-A6CC-B5C7-945453F34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A7C9A-874C-18E1-95CF-9F9D9945A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8EEA-4669-42BB-9F97-2287C2F23AF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7EB3B-BBC9-E815-EB9C-8D1529CC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244B6-58F0-DEF2-7D91-53FCAE71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A034-3A00-4D96-AC7F-AB6AA842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7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594B8-6EC9-C6F8-3EF6-8735E949D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AECEB-4ECA-E2D8-DC85-1D53529C1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606C7-ED4B-AEDA-E5E5-9F8A18C5D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DA461E-996C-0508-181C-E39871BDC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181B1E-22E5-0899-2266-C502BCEF8B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BDABC-79B1-7EB2-A312-C53B09510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8EEA-4669-42BB-9F97-2287C2F23AF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397EE7-E636-D720-8D3D-DB6A4676B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DD0F9D-C6BB-536A-CDB3-652CE01C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A034-3A00-4D96-AC7F-AB6AA842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8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53EB-8137-5CE1-3FF5-9C28CB1F4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A57128-D767-17D6-6047-235A2130E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8EEA-4669-42BB-9F97-2287C2F23AF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38A7A-8E06-58F2-CD1A-DD99471DD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6801A-5208-2CF2-7E5E-27087B83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A034-3A00-4D96-AC7F-AB6AA842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1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6BE4F1-609E-F875-C3A4-0C6AF828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8EEA-4669-42BB-9F97-2287C2F23AF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FDF52C-7D10-F8C0-8740-E6DFC423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286C6-3D9A-661B-0626-D3A976028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A034-3A00-4D96-AC7F-AB6AA842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55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D15C9-6FD1-8F80-BD9C-D25E2CE68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9AC17-1136-8BB5-73F8-D86161A6C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053EA-3127-B486-361F-CBEDF6127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8C55-71CF-EAE8-E2B1-38BCB9A39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8EEA-4669-42BB-9F97-2287C2F23AF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94FCF-1B2F-7BD3-5B83-1456EC7BE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87D73-402A-AEFF-7D79-68E7725D6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A034-3A00-4D96-AC7F-AB6AA842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9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7CDA-B048-D880-1AD0-7EAE99C7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9E2C88-D73E-8E1C-FC6A-50F3B49CF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80C89-C4C5-37DF-AC40-1F9928175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84795-B0ED-885E-9173-2DA211959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8EEA-4669-42BB-9F97-2287C2F23AF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5270B-8B1D-EB33-AE3F-FDE7021E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08CE6-8D90-7A64-CCDB-A815CDE97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A034-3A00-4D96-AC7F-AB6AA842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4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A81A4-C387-6A63-9B69-BF59BC0D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07983-CB42-401A-5CC2-8B52FE964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A42B0-21A0-2F47-C148-5185B6709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8EEA-4669-42BB-9F97-2287C2F23AF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5A5A7-19C7-85B4-C528-3D8787630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BE31E-651F-34C7-A338-AF6FD2A97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A034-3A00-4D96-AC7F-AB6AA842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6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B97B4E-C179-3190-8C00-56FD2E8B4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6DDEC-95F1-C7AC-6A71-BDD0FE0E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C589E-D460-FF2D-3450-9DF83259E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8EEA-4669-42BB-9F97-2287C2F23AF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5CADD-AAD5-AC53-2942-57088EA7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66AB7-F856-0DAD-E372-24AF4EDF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BA034-3A00-4D96-AC7F-AB6AA842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8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48AA8-0CD9-66E3-574A-3A0063BD3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C3EB0-EFFF-0F4E-94A6-A4D9A225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64D67-B2E5-521C-6B65-98059DE00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F38EEA-4669-42BB-9F97-2287C2F23AFB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327F3-14A3-B9D9-6641-583CADBA1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85D32-1C4B-342E-322F-25BDB8ACFC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BA034-3A00-4D96-AC7F-AB6AA842B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767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951A7-3489-9A29-761C-EA3B3D386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91441"/>
          </a:xfrm>
        </p:spPr>
        <p:txBody>
          <a:bodyPr>
            <a:normAutofit/>
          </a:bodyPr>
          <a:lstStyle/>
          <a:p>
            <a:r>
              <a:rPr lang="en-US" sz="4800" dirty="0"/>
              <a:t>ANÁLISE DE COMPLEXIDADE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87CC3-C79E-7328-7ACA-5B1EDF0E1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38091"/>
            <a:ext cx="9144000" cy="3510951"/>
          </a:xfrm>
        </p:spPr>
        <p:txBody>
          <a:bodyPr>
            <a:normAutofit/>
          </a:bodyPr>
          <a:lstStyle/>
          <a:p>
            <a:pPr algn="just"/>
            <a:r>
              <a:rPr lang="pt-PT" b="1" dirty="0"/>
              <a:t>Complexidade </a:t>
            </a:r>
            <a:r>
              <a:rPr lang="pt-PT" b="1" dirty="0" err="1"/>
              <a:t>TemporalOperação</a:t>
            </a:r>
            <a:endParaRPr lang="pt-PT" b="1" dirty="0"/>
          </a:p>
          <a:p>
            <a:r>
              <a:rPr lang="pt-PT" dirty="0"/>
              <a:t>	</a:t>
            </a:r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pPr algn="just"/>
            <a:r>
              <a:rPr lang="pt-PT" dirty="0" err="1"/>
              <a:t>Onde:n</a:t>
            </a:r>
            <a:r>
              <a:rPr lang="pt-PT" dirty="0"/>
              <a:t> = número de elementos na tabela</a:t>
            </a:r>
          </a:p>
          <a:p>
            <a:pPr algn="just"/>
            <a:r>
              <a:rPr lang="pt-PT" dirty="0"/>
              <a:t>TAM = 10 (constante)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D625D5-0D31-F112-F19A-619BCCEB6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39872"/>
              </p:ext>
            </p:extLst>
          </p:nvPr>
        </p:nvGraphicFramePr>
        <p:xfrm>
          <a:off x="1859471" y="3364302"/>
          <a:ext cx="8127999" cy="1645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8013056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9085626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6168468"/>
                    </a:ext>
                  </a:extLst>
                </a:gridCol>
              </a:tblGrid>
              <a:tr h="547930">
                <a:tc>
                  <a:txBody>
                    <a:bodyPr/>
                    <a:lstStyle/>
                    <a:p>
                      <a:r>
                        <a:rPr lang="en-US" dirty="0" err="1"/>
                        <a:t>Operação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Encadeamento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Sondagem</a:t>
                      </a:r>
                      <a:r>
                        <a:rPr lang="en-US" dirty="0"/>
                        <a:t> Linear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303799"/>
                  </a:ext>
                </a:extLst>
              </a:tr>
              <a:tr h="260179">
                <a:tc>
                  <a:txBody>
                    <a:bodyPr/>
                    <a:lstStyle/>
                    <a:p>
                      <a:r>
                        <a:rPr lang="en-US" dirty="0" err="1"/>
                        <a:t>Inserção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 </a:t>
                      </a:r>
                      <a:r>
                        <a:rPr lang="en-US" dirty="0" err="1"/>
                        <a:t>médio</a:t>
                      </a:r>
                      <a:r>
                        <a:rPr lang="en-US" dirty="0"/>
                        <a:t>; O(n) </a:t>
                      </a:r>
                      <a:r>
                        <a:rPr lang="en-US" dirty="0" err="1"/>
                        <a:t>pior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O(1) </a:t>
                      </a:r>
                      <a:r>
                        <a:rPr lang="en-US" dirty="0" err="1"/>
                        <a:t>médio</a:t>
                      </a:r>
                      <a:r>
                        <a:rPr lang="en-US" dirty="0"/>
                        <a:t>; O(n) </a:t>
                      </a:r>
                      <a:r>
                        <a:rPr lang="en-US" dirty="0" err="1"/>
                        <a:t>pior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014880"/>
                  </a:ext>
                </a:extLst>
              </a:tr>
              <a:tr h="260179">
                <a:tc>
                  <a:txBody>
                    <a:bodyPr/>
                    <a:lstStyle/>
                    <a:p>
                      <a:r>
                        <a:rPr lang="en-US" dirty="0" err="1"/>
                        <a:t>Busca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 </a:t>
                      </a:r>
                      <a:r>
                        <a:rPr lang="en-US" dirty="0" err="1"/>
                        <a:t>médio</a:t>
                      </a:r>
                      <a:r>
                        <a:rPr lang="en-US" dirty="0"/>
                        <a:t>; O(n) </a:t>
                      </a:r>
                      <a:r>
                        <a:rPr lang="en-US" dirty="0" err="1"/>
                        <a:t>pior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O(1) </a:t>
                      </a:r>
                      <a:r>
                        <a:rPr lang="en-US" dirty="0" err="1"/>
                        <a:t>médio</a:t>
                      </a:r>
                      <a:r>
                        <a:rPr lang="en-US" dirty="0"/>
                        <a:t>; O(n) </a:t>
                      </a:r>
                      <a:r>
                        <a:rPr lang="en-US" dirty="0" err="1"/>
                        <a:t>pior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641102"/>
                  </a:ext>
                </a:extLst>
              </a:tr>
              <a:tr h="260179">
                <a:tc>
                  <a:txBody>
                    <a:bodyPr/>
                    <a:lstStyle/>
                    <a:p>
                      <a:r>
                        <a:rPr lang="en-US" dirty="0" err="1"/>
                        <a:t>Remoção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 </a:t>
                      </a:r>
                      <a:r>
                        <a:rPr lang="en-US" dirty="0" err="1"/>
                        <a:t>médio</a:t>
                      </a:r>
                      <a:r>
                        <a:rPr lang="en-US" dirty="0"/>
                        <a:t>; O(n) </a:t>
                      </a:r>
                      <a:r>
                        <a:rPr lang="en-US" dirty="0" err="1"/>
                        <a:t>pior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O(1) </a:t>
                      </a:r>
                      <a:r>
                        <a:rPr lang="en-US" dirty="0" err="1"/>
                        <a:t>médio</a:t>
                      </a:r>
                      <a:r>
                        <a:rPr lang="en-US" dirty="0"/>
                        <a:t>; O(n) </a:t>
                      </a:r>
                      <a:r>
                        <a:rPr lang="en-US" dirty="0" err="1"/>
                        <a:t>pior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713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440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159BC-AFE7-557F-1EAE-55E2F01F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Complexidade</a:t>
            </a:r>
            <a:r>
              <a:rPr lang="en-US" dirty="0"/>
              <a:t> </a:t>
            </a:r>
            <a:r>
              <a:rPr lang="en-US" dirty="0" err="1"/>
              <a:t>Espacial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F6CD5-EFC8-90F5-837F-414EB0E5A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pt-PT" b="1" dirty="0">
                <a:solidFill>
                  <a:srgbClr val="0F1115"/>
                </a:solidFill>
                <a:effectLst/>
                <a:latin typeface="quote-cjk-patch"/>
              </a:rPr>
              <a:t>Encadeamento: O(n) + </a:t>
            </a:r>
            <a:r>
              <a:rPr lang="pt-PT" b="1" dirty="0" err="1">
                <a:solidFill>
                  <a:srgbClr val="0F1115"/>
                </a:solidFill>
                <a:effectLst/>
                <a:latin typeface="quote-cjk-patch"/>
              </a:rPr>
              <a:t>overhead</a:t>
            </a:r>
            <a:r>
              <a:rPr lang="pt-PT" b="1" dirty="0">
                <a:solidFill>
                  <a:srgbClr val="0F1115"/>
                </a:solidFill>
                <a:effectLst/>
                <a:latin typeface="quote-cjk-patch"/>
              </a:rPr>
              <a:t> dos ponteiros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Cada elemento armazenado ocupa espaço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Além disso, há </a:t>
            </a:r>
            <a:r>
              <a:rPr lang="pt-PT" b="1" i="0" dirty="0">
                <a:solidFill>
                  <a:srgbClr val="0F1115"/>
                </a:solidFill>
                <a:effectLst/>
                <a:latin typeface="quote-cjk-patch"/>
              </a:rPr>
              <a:t>ponteiros</a:t>
            </a: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 (próximo nó) em cada elemento da lista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Espaço cresce </a:t>
            </a:r>
            <a:r>
              <a:rPr lang="pt-PT" b="1" i="0" dirty="0">
                <a:solidFill>
                  <a:srgbClr val="0F1115"/>
                </a:solidFill>
                <a:effectLst/>
                <a:latin typeface="quote-cjk-patch"/>
              </a:rPr>
              <a:t>linearmente</a:t>
            </a: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 com o número de elementos (n)</a:t>
            </a:r>
          </a:p>
          <a:p>
            <a:pPr marL="0" indent="0" algn="l">
              <a:buNone/>
            </a:pPr>
            <a:r>
              <a:rPr lang="pt-PT" b="1" dirty="0">
                <a:solidFill>
                  <a:srgbClr val="0F1115"/>
                </a:solidFill>
                <a:effectLst/>
                <a:latin typeface="quote-cjk-patch"/>
              </a:rPr>
              <a:t>Sondagem Linear: O(TAM) fixo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A tabela tem tamanho fixo (10)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Não importa se n = 0 ou n = 10, a memória alocada é sempre a mesma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Vantagem: previsível e não há </a:t>
            </a:r>
            <a:r>
              <a:rPr lang="pt-PT" b="0" i="0" dirty="0" err="1">
                <a:solidFill>
                  <a:srgbClr val="0F1115"/>
                </a:solidFill>
                <a:effectLst/>
                <a:latin typeface="quote-cjk-patch"/>
              </a:rPr>
              <a:t>overhead</a:t>
            </a: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 de ponteiros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Desvantagem: quando n se aproxima de TAM, a performance degrada muito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219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6A6ED-39B2-B41D-01E9-D7EF7BC4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F1115"/>
                </a:solidFill>
                <a:effectLst/>
                <a:latin typeface="quote-cjk-patch"/>
              </a:rPr>
              <a:t>Fator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 de Carga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2CBD6-9F79-C001-8848-756C8FD6B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PT" dirty="0"/>
              <a:t>Fator de carga = n / TAM</a:t>
            </a:r>
          </a:p>
          <a:p>
            <a:pPr marL="0" indent="0" algn="l">
              <a:buNone/>
            </a:pPr>
            <a:r>
              <a:rPr lang="pt-PT" b="1" dirty="0">
                <a:solidFill>
                  <a:srgbClr val="0F1115"/>
                </a:solidFill>
                <a:effectLst/>
                <a:latin typeface="quote-cjk-patch"/>
              </a:rPr>
              <a:t>Limite ideal: 0.7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Regra prática: quando o fator de carga ultrapassa </a:t>
            </a:r>
            <a:r>
              <a:rPr lang="pt-PT" b="1" i="0" dirty="0">
                <a:solidFill>
                  <a:srgbClr val="0F1115"/>
                </a:solidFill>
                <a:effectLst/>
                <a:latin typeface="quote-cjk-patch"/>
              </a:rPr>
              <a:t>0.7</a:t>
            </a: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, recomenda-se </a:t>
            </a:r>
            <a:r>
              <a:rPr lang="pt-PT" b="1" i="0" dirty="0">
                <a:solidFill>
                  <a:srgbClr val="0F1115"/>
                </a:solidFill>
                <a:effectLst/>
                <a:latin typeface="quote-cjk-patch"/>
              </a:rPr>
              <a:t>redimensionar</a:t>
            </a: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 a tabela (aumentar TAM) e </a:t>
            </a:r>
            <a:r>
              <a:rPr lang="pt-PT" b="1" i="0" dirty="0" err="1">
                <a:solidFill>
                  <a:srgbClr val="0F1115"/>
                </a:solidFill>
                <a:effectLst/>
                <a:latin typeface="quote-cjk-patch"/>
              </a:rPr>
              <a:t>rehash</a:t>
            </a: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 de todos os elementos</a:t>
            </a:r>
          </a:p>
          <a:p>
            <a:pPr marL="0" indent="0" algn="l">
              <a:buNone/>
            </a:pPr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No nosso caso, TAM = 10, fator 0.7 → máximo 7 estudantes para manter boa performance</a:t>
            </a:r>
          </a:p>
          <a:p>
            <a:pPr marL="0" indent="0" algn="l">
              <a:buNone/>
            </a:pPr>
            <a:r>
              <a:rPr lang="pt-PT" b="1" dirty="0">
                <a:solidFill>
                  <a:srgbClr val="0F1115"/>
                </a:solidFill>
                <a:effectLst/>
                <a:latin typeface="quote-cjk-patch"/>
              </a:rPr>
              <a:t>Por que sonda linear sofre mais com fator de carga alto?</a:t>
            </a:r>
          </a:p>
          <a:p>
            <a:pPr algn="l"/>
            <a:r>
              <a:rPr lang="pt-PT" b="0" i="0" dirty="0">
                <a:solidFill>
                  <a:srgbClr val="0F1115"/>
                </a:solidFill>
                <a:effectLst/>
                <a:latin typeface="quote-cjk-patch"/>
              </a:rPr>
              <a:t>No encadeamento, mesmo com fator 1.0, cada posição tem em média 1 elemento. Na sonda linear, com fator 0.9, a probabilidade de encontrar aglomerados (clusters) é alta, aumentando o tempo de busca.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458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quote-cjk-patch</vt:lpstr>
      <vt:lpstr>Office Theme</vt:lpstr>
      <vt:lpstr>ANÁLISE DE COMPLEXIDADE</vt:lpstr>
      <vt:lpstr>Complexidade Espacial</vt:lpstr>
      <vt:lpstr>Fator de Carga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2026-04-03T03:53:39Z</dcterms:created>
  <dcterms:modified xsi:type="dcterms:W3CDTF">2026-04-03T03:53:48Z</dcterms:modified>
</cp:coreProperties>
</file>